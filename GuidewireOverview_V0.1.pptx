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8.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5" r:id="rId1"/>
    <p:sldMasterId id="2147483863" r:id="rId2"/>
    <p:sldMasterId id="2147483875" r:id="rId3"/>
    <p:sldMasterId id="2147483889" r:id="rId4"/>
    <p:sldMasterId id="2147483903" r:id="rId5"/>
    <p:sldMasterId id="2147483915" r:id="rId6"/>
    <p:sldMasterId id="2147483995" r:id="rId7"/>
    <p:sldMasterId id="2147484019" r:id="rId8"/>
    <p:sldMasterId id="2147484032" r:id="rId9"/>
  </p:sldMasterIdLst>
  <p:notesMasterIdLst>
    <p:notesMasterId r:id="rId52"/>
  </p:notesMasterIdLst>
  <p:handoutMasterIdLst>
    <p:handoutMasterId r:id="rId53"/>
  </p:handoutMasterIdLst>
  <p:sldIdLst>
    <p:sldId id="1192" r:id="rId10"/>
    <p:sldId id="1568" r:id="rId11"/>
    <p:sldId id="1614" r:id="rId12"/>
    <p:sldId id="1682" r:id="rId13"/>
    <p:sldId id="1633" r:id="rId14"/>
    <p:sldId id="1688" r:id="rId15"/>
    <p:sldId id="1686" r:id="rId16"/>
    <p:sldId id="1691" r:id="rId17"/>
    <p:sldId id="1690" r:id="rId18"/>
    <p:sldId id="1687" r:id="rId19"/>
    <p:sldId id="1689" r:id="rId20"/>
    <p:sldId id="1693" r:id="rId21"/>
    <p:sldId id="1694" r:id="rId22"/>
    <p:sldId id="1695" r:id="rId23"/>
    <p:sldId id="1696" r:id="rId24"/>
    <p:sldId id="1697" r:id="rId25"/>
    <p:sldId id="1698" r:id="rId26"/>
    <p:sldId id="1699" r:id="rId27"/>
    <p:sldId id="1700" r:id="rId28"/>
    <p:sldId id="1701" r:id="rId29"/>
    <p:sldId id="1702" r:id="rId30"/>
    <p:sldId id="1703" r:id="rId31"/>
    <p:sldId id="1704" r:id="rId32"/>
    <p:sldId id="1705" r:id="rId33"/>
    <p:sldId id="1708" r:id="rId34"/>
    <p:sldId id="1709" r:id="rId35"/>
    <p:sldId id="1713" r:id="rId36"/>
    <p:sldId id="1714" r:id="rId37"/>
    <p:sldId id="1722" r:id="rId38"/>
    <p:sldId id="1683" r:id="rId39"/>
    <p:sldId id="1630" r:id="rId40"/>
    <p:sldId id="1723" r:id="rId41"/>
    <p:sldId id="1724" r:id="rId42"/>
    <p:sldId id="1715" r:id="rId43"/>
    <p:sldId id="1719" r:id="rId44"/>
    <p:sldId id="1720" r:id="rId45"/>
    <p:sldId id="1721" r:id="rId46"/>
    <p:sldId id="1716" r:id="rId47"/>
    <p:sldId id="1718" r:id="rId48"/>
    <p:sldId id="1717" r:id="rId49"/>
    <p:sldId id="1631" r:id="rId50"/>
    <p:sldId id="1684" r:id="rId51"/>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2" clrIdx="0"/>
  <p:cmAuthor id="1" name="Sreedhar Majji" initials="SM" lastIdx="1" clrIdx="1">
    <p:extLst>
      <p:ext uri="{19B8F6BF-5375-455C-9EA6-DF929625EA0E}">
        <p15:presenceInfo xmlns:p15="http://schemas.microsoft.com/office/powerpoint/2012/main" userId="S::158442@cognizant.com::e62ef095-0bde-40b2-afa0-3a3b77b1a92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3941"/>
    <a:srgbClr val="0033CC"/>
    <a:srgbClr val="FF0000"/>
    <a:srgbClr val="FFFF00"/>
    <a:srgbClr val="6699FF"/>
    <a:srgbClr val="33CC33"/>
    <a:srgbClr val="00CC00"/>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1016" autoAdjust="0"/>
  </p:normalViewPr>
  <p:slideViewPr>
    <p:cSldViewPr snapToGrid="0">
      <p:cViewPr varScale="1">
        <p:scale>
          <a:sx n="49" d="100"/>
          <a:sy n="49" d="100"/>
        </p:scale>
        <p:origin x="1804" y="264"/>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8" d="100"/>
          <a:sy n="68" d="100"/>
        </p:scale>
        <p:origin x="-3276" y="-12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2.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6/11/relationships/changesInfo" Target="changesInfos/changesInfo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heme" Target="theme/theme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gopalan, Latha (Cognizant)" userId="72a3962f-6204-4e20-81bc-469ddfe9ea11" providerId="ADAL" clId="{EC284C17-B1F8-42BB-8418-CF1D4E76689B}"/>
    <pc:docChg chg="undo custSel addSld delSld">
      <pc:chgData name="Rajagopalan, Latha (Cognizant)" userId="72a3962f-6204-4e20-81bc-469ddfe9ea11" providerId="ADAL" clId="{EC284C17-B1F8-42BB-8418-CF1D4E76689B}" dt="2026-05-15T05:50:05.394" v="6" actId="47"/>
      <pc:docMkLst>
        <pc:docMk/>
      </pc:docMkLst>
      <pc:sldChg chg="add del">
        <pc:chgData name="Rajagopalan, Latha (Cognizant)" userId="72a3962f-6204-4e20-81bc-469ddfe9ea11" providerId="ADAL" clId="{EC284C17-B1F8-42BB-8418-CF1D4E76689B}" dt="2026-05-15T05:48:45.495" v="1" actId="47"/>
        <pc:sldMkLst>
          <pc:docMk/>
          <pc:sldMk cId="915247808" sldId="1689"/>
        </pc:sldMkLst>
      </pc:sldChg>
      <pc:sldChg chg="del">
        <pc:chgData name="Rajagopalan, Latha (Cognizant)" userId="72a3962f-6204-4e20-81bc-469ddfe9ea11" providerId="ADAL" clId="{EC284C17-B1F8-42BB-8418-CF1D4E76689B}" dt="2026-05-15T05:49:19.976" v="2" actId="47"/>
        <pc:sldMkLst>
          <pc:docMk/>
          <pc:sldMk cId="2492356081" sldId="1706"/>
        </pc:sldMkLst>
      </pc:sldChg>
      <pc:sldChg chg="del">
        <pc:chgData name="Rajagopalan, Latha (Cognizant)" userId="72a3962f-6204-4e20-81bc-469ddfe9ea11" providerId="ADAL" clId="{EC284C17-B1F8-42BB-8418-CF1D4E76689B}" dt="2026-05-15T05:49:21.474" v="3" actId="47"/>
        <pc:sldMkLst>
          <pc:docMk/>
          <pc:sldMk cId="275892944" sldId="1707"/>
        </pc:sldMkLst>
      </pc:sldChg>
      <pc:sldChg chg="del">
        <pc:chgData name="Rajagopalan, Latha (Cognizant)" userId="72a3962f-6204-4e20-81bc-469ddfe9ea11" providerId="ADAL" clId="{EC284C17-B1F8-42BB-8418-CF1D4E76689B}" dt="2026-05-15T05:49:59.437" v="5" actId="47"/>
        <pc:sldMkLst>
          <pc:docMk/>
          <pc:sldMk cId="1961717331" sldId="1710"/>
        </pc:sldMkLst>
      </pc:sldChg>
      <pc:sldChg chg="del">
        <pc:chgData name="Rajagopalan, Latha (Cognizant)" userId="72a3962f-6204-4e20-81bc-469ddfe9ea11" providerId="ADAL" clId="{EC284C17-B1F8-42BB-8418-CF1D4E76689B}" dt="2026-05-15T05:50:05.394" v="6" actId="47"/>
        <pc:sldMkLst>
          <pc:docMk/>
          <pc:sldMk cId="3914396514" sldId="1711"/>
        </pc:sldMkLst>
      </pc:sldChg>
      <pc:sldChg chg="del">
        <pc:chgData name="Rajagopalan, Latha (Cognizant)" userId="72a3962f-6204-4e20-81bc-469ddfe9ea11" providerId="ADAL" clId="{EC284C17-B1F8-42BB-8418-CF1D4E76689B}" dt="2026-05-15T05:49:56.414" v="4" actId="47"/>
        <pc:sldMkLst>
          <pc:docMk/>
          <pc:sldMk cId="105094598" sldId="17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C6E5E13C-C7EA-4C6E-A5AC-A383C0530A12}" type="slidenum">
              <a:rPr lang="en-US" altLang="en-US"/>
              <a:pPr>
                <a:defRPr/>
              </a:pPr>
              <a:t>‹#›</a:t>
            </a:fld>
            <a:endParaRPr lang="en-US" altLang="en-US" dirty="0"/>
          </a:p>
        </p:txBody>
      </p:sp>
    </p:spTree>
    <p:extLst>
      <p:ext uri="{BB962C8B-B14F-4D97-AF65-F5344CB8AC3E}">
        <p14:creationId xmlns:p14="http://schemas.microsoft.com/office/powerpoint/2010/main" val="9503438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latin typeface="Arial" charset="0"/>
              </a:defRPr>
            </a:lvl1pPr>
          </a:lstStyle>
          <a:p>
            <a:pPr>
              <a:defRPr/>
            </a:pPr>
            <a:r>
              <a:rPr lang="en-US" altLang="en-US" dirty="0"/>
              <a:t>	PolicyCenter Overview - </a:t>
            </a:r>
            <a:fld id="{7D58CAAE-E885-46F4-9CF3-864CB46D6062}" type="slidenum">
              <a:rPr lang="en-US" altLang="en-US"/>
              <a:pPr>
                <a:defRPr/>
              </a:pPr>
              <a:t>‹#›</a:t>
            </a:fld>
            <a:endParaRPr lang="en-US" altLang="en-US" dirty="0"/>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dirty="0">
                <a:solidFill>
                  <a:srgbClr val="000000"/>
                </a:solidFill>
                <a:latin typeface="Times New Roman" pitchFamily="18" charset="0"/>
                <a:cs typeface="Times New Roman" pitchFamily="18" charset="0"/>
              </a:rPr>
              <a:t>Introduction, 2.</a:t>
            </a:r>
            <a:fld id="{E50E9EF4-2943-4BFD-B1F1-351DEB1A2BC4}"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dirty="0">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dirty="0"/>
          </a:p>
        </p:txBody>
      </p:sp>
    </p:spTree>
    <p:extLst>
      <p:ext uri="{BB962C8B-B14F-4D97-AF65-F5344CB8AC3E}">
        <p14:creationId xmlns:p14="http://schemas.microsoft.com/office/powerpoint/2010/main" val="691946617"/>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guidewire.hivelive.com/pages/home"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PolicyCenter Overview - </a:t>
            </a:r>
            <a:fld id="{0224D565-DFA6-45E4-9F5B-021D0A8DD14C}" type="slidenum">
              <a:rPr lang="en-US" altLang="en-US" sz="1200" b="0" smtClean="0">
                <a:solidFill>
                  <a:schemeClr val="tx1"/>
                </a:solidFill>
              </a:rPr>
              <a:pPr eaLnBrk="1" hangingPunct="1"/>
              <a:t>1</a:t>
            </a:fld>
            <a:endParaRPr lang="en-US" altLang="en-US" sz="1200" b="0" dirty="0">
              <a:solidFill>
                <a:schemeClr val="tx1"/>
              </a:solidFill>
            </a:endParaRPr>
          </a:p>
        </p:txBody>
      </p:sp>
      <p:sp>
        <p:nvSpPr>
          <p:cNvPr id="3481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4820" name="Rectangle 2"/>
          <p:cNvSpPr>
            <a:spLocks noGrp="1" noRot="1" noChangeAspect="1" noChangeArrowheads="1" noTextEdit="1"/>
          </p:cNvSpPr>
          <p:nvPr>
            <p:ph type="sldImg"/>
          </p:nvPr>
        </p:nvSpPr>
        <p:spPr>
          <a:xfrm>
            <a:off x="715963" y="630238"/>
            <a:ext cx="5430837" cy="4073525"/>
          </a:xfrm>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PolicyCenter Overview - </a:t>
            </a:r>
            <a:fld id="{F8605A13-F017-4532-8156-EBB21DCAEB79}" type="slidenum">
              <a:rPr lang="en-US" altLang="en-US" sz="1200" b="0" smtClean="0">
                <a:solidFill>
                  <a:schemeClr val="tx1"/>
                </a:solidFill>
              </a:rPr>
              <a:pPr eaLnBrk="1" hangingPunct="1"/>
              <a:t>2</a:t>
            </a:fld>
            <a:endParaRPr lang="en-US" altLang="en-US" sz="1200" b="0" dirty="0">
              <a:solidFill>
                <a:schemeClr val="tx1"/>
              </a:solidFill>
            </a:endParaRPr>
          </a:p>
        </p:txBody>
      </p:sp>
      <p:sp>
        <p:nvSpPr>
          <p:cNvPr id="3584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4" name="Rectangle 2"/>
          <p:cNvSpPr>
            <a:spLocks noGrp="1" noRot="1" noChangeAspect="1" noChangeArrowheads="1" noTextEdit="1"/>
          </p:cNvSpPr>
          <p:nvPr>
            <p:ph type="sldImg"/>
          </p:nvPr>
        </p:nvSpPr>
        <p:spPr>
          <a:xfrm>
            <a:off x="715963" y="630238"/>
            <a:ext cx="5432425"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PolicyCenter Overview - </a:t>
            </a:r>
            <a:fld id="{B87EB1BB-ACB0-4308-851A-35F19A066D39}" type="slidenum">
              <a:rPr lang="en-US" altLang="en-US" sz="1200" b="0">
                <a:solidFill>
                  <a:schemeClr val="tx1"/>
                </a:solidFill>
              </a:rPr>
              <a:pPr algn="l" eaLnBrk="1" hangingPunct="1">
                <a:spcBef>
                  <a:spcPct val="0"/>
                </a:spcBef>
                <a:spcAft>
                  <a:spcPct val="0"/>
                </a:spcAft>
                <a:buClrTx/>
              </a:pPr>
              <a:t>3</a:t>
            </a:fld>
            <a:endParaRPr lang="en-US" altLang="en-US" sz="1200" b="0" dirty="0">
              <a:solidFill>
                <a:schemeClr val="tx1"/>
              </a:solidFill>
            </a:endParaRPr>
          </a:p>
        </p:txBody>
      </p:sp>
      <p:sp>
        <p:nvSpPr>
          <p:cNvPr id="36867"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4</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4</a:t>
            </a:fld>
            <a:endParaRPr lang="en-US" altLang="en-US" sz="1200" b="0" dirty="0">
              <a:solidFill>
                <a:schemeClr val="tx1"/>
              </a:solidFill>
            </a:endParaRPr>
          </a:p>
        </p:txBody>
      </p:sp>
    </p:spTree>
    <p:extLst>
      <p:ext uri="{BB962C8B-B14F-4D97-AF65-F5344CB8AC3E}">
        <p14:creationId xmlns:p14="http://schemas.microsoft.com/office/powerpoint/2010/main" val="31990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3FF407D-3CB3-4163-803C-193A1E6424BA}"/>
              </a:ext>
            </a:extLst>
          </p:cNvPr>
          <p:cNvSpPr>
            <a:spLocks noGrp="1"/>
          </p:cNvSpPr>
          <p:nvPr>
            <p:ph type="body" idx="1"/>
          </p:nvPr>
        </p:nvSpPr>
        <p:spPr/>
        <p:txBody>
          <a:bodyPr/>
          <a:lstStyle/>
          <a:p>
            <a:r>
              <a:rPr lang="en-US" b="0" i="0" dirty="0">
                <a:solidFill>
                  <a:srgbClr val="424242"/>
                </a:solidFill>
                <a:effectLst/>
                <a:latin typeface="Gartner sans"/>
              </a:rPr>
              <a:t>This Magic Quadrant provides insight into the market for P&amp;C core platforms aimed at very large Tier 1 insurers. It is a review of established and emerging vendors offering P&amp;C core platforms with broad customer, partner, data and employee-focused capabilities suitable for multiline P&amp;C insurers. The version of the vendor’s product(s) evaluated by Gartner for this report is what was generally available as of 31 March 2021.</a:t>
            </a:r>
            <a:endParaRPr lang="en-US"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C3FF407D-3CB3-4163-803C-193A1E6424BA}"/>
              </a:ext>
            </a:extLst>
          </p:cNvPr>
          <p:cNvSpPr>
            <a:spLocks noGrp="1"/>
          </p:cNvSpPr>
          <p:nvPr>
            <p:ph type="body" idx="1"/>
          </p:nvPr>
        </p:nvSpPr>
        <p:spPr/>
        <p:txBody>
          <a:bodyPr/>
          <a:lstStyle/>
          <a:p>
            <a:pPr marL="171450" indent="-171450">
              <a:buFont typeface="Arial" panose="020B0604020202020204" pitchFamily="34" charset="0"/>
              <a:buChar char="•"/>
            </a:pPr>
            <a:r>
              <a:rPr lang="en-US" b="1" i="0" dirty="0">
                <a:solidFill>
                  <a:srgbClr val="424242"/>
                </a:solidFill>
                <a:effectLst/>
                <a:latin typeface="Gartner sans"/>
              </a:rPr>
              <a:t>Platform Vision: </a:t>
            </a:r>
            <a:r>
              <a:rPr lang="en-US" b="0" i="0" dirty="0">
                <a:solidFill>
                  <a:srgbClr val="424242"/>
                </a:solidFill>
                <a:effectLst/>
                <a:latin typeface="Gartner sans"/>
              </a:rPr>
              <a:t> In addition to the core modules, the vendor has a comprehensive data and analytics solution, a suite of portals for different user types, a predictive analytics solution and the greatest number of partner solutions offered through its insurance app store</a:t>
            </a:r>
            <a:endParaRPr lang="en-US" b="1" i="0" dirty="0">
              <a:solidFill>
                <a:srgbClr val="424242"/>
              </a:solidFill>
              <a:effectLst/>
              <a:latin typeface="Gartner sans"/>
            </a:endParaRPr>
          </a:p>
          <a:p>
            <a:pPr marL="171450" indent="-171450">
              <a:buFont typeface="Arial" panose="020B0604020202020204" pitchFamily="34" charset="0"/>
              <a:buChar char="•"/>
            </a:pPr>
            <a:r>
              <a:rPr lang="en-US" b="1" i="0" dirty="0">
                <a:solidFill>
                  <a:srgbClr val="424242"/>
                </a:solidFill>
                <a:effectLst/>
                <a:latin typeface="Gartner sans"/>
              </a:rPr>
              <a:t>Sales Execution:</a:t>
            </a:r>
            <a:r>
              <a:rPr lang="en-US" b="0" i="0" dirty="0">
                <a:solidFill>
                  <a:srgbClr val="424242"/>
                </a:solidFill>
                <a:effectLst/>
                <a:latin typeface="Gartner sans"/>
              </a:rPr>
              <a:t> For the fifth year running, Guidewire has secured the highest number of new wins for its insurance core modules. Guidewire accounted for 29% of new wins in North America in 2020 and 1Q21, across the vendors profiled in this report.</a:t>
            </a:r>
          </a:p>
          <a:p>
            <a:pPr marL="171450" indent="-171450">
              <a:buFont typeface="Arial" panose="020B0604020202020204" pitchFamily="34" charset="0"/>
              <a:buChar char="•"/>
            </a:pPr>
            <a:r>
              <a:rPr lang="en-US" b="1" i="0" dirty="0">
                <a:solidFill>
                  <a:srgbClr val="424242"/>
                </a:solidFill>
                <a:effectLst/>
                <a:latin typeface="Gartner sans"/>
              </a:rPr>
              <a:t>Implementation Partners:</a:t>
            </a:r>
            <a:r>
              <a:rPr lang="en-US" b="0" i="0" dirty="0">
                <a:solidFill>
                  <a:srgbClr val="424242"/>
                </a:solidFill>
                <a:effectLst/>
                <a:latin typeface="Gartner sans"/>
              </a:rPr>
              <a:t> Guidewire has an expansive network of technology and service partners. The vendor has more than 10,000 formally certified SI consultants.</a:t>
            </a:r>
          </a:p>
          <a:p>
            <a:pPr marL="171450" indent="-171450">
              <a:buFont typeface="Arial" panose="020B0604020202020204" pitchFamily="34" charset="0"/>
              <a:buChar char="•"/>
            </a:pPr>
            <a:r>
              <a:rPr lang="en-US" b="1" i="0" dirty="0">
                <a:solidFill>
                  <a:srgbClr val="424242"/>
                </a:solidFill>
                <a:effectLst/>
                <a:latin typeface="Gartner sans"/>
              </a:rPr>
              <a:t>R&amp;D Investment: </a:t>
            </a:r>
            <a:r>
              <a:rPr lang="en-US" b="0" i="0" dirty="0">
                <a:solidFill>
                  <a:srgbClr val="424242"/>
                </a:solidFill>
                <a:effectLst/>
                <a:latin typeface="Gartner sans"/>
              </a:rPr>
              <a:t>Guidewire invests over $200 million in R&amp;D annually, accounting for 35% of its total revenue.</a:t>
            </a:r>
            <a:endParaRPr lang="en-US" b="1" dirty="0"/>
          </a:p>
        </p:txBody>
      </p:sp>
    </p:spTree>
    <p:extLst>
      <p:ext uri="{BB962C8B-B14F-4D97-AF65-F5344CB8AC3E}">
        <p14:creationId xmlns:p14="http://schemas.microsoft.com/office/powerpoint/2010/main" val="518196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26FA05EE-208F-4FBE-A7EC-A19FF6C0A825}"/>
              </a:ext>
            </a:extLst>
          </p:cNvPr>
          <p:cNvSpPr>
            <a:spLocks noGrp="1"/>
          </p:cNvSpPr>
          <p:nvPr>
            <p:ph type="body" idx="1"/>
          </p:nvPr>
        </p:nvSpPr>
        <p:spPr/>
        <p:txBody>
          <a:bodyPr/>
          <a:lstStyle/>
          <a:p>
            <a:r>
              <a:rPr lang="en-US" b="1" dirty="0"/>
              <a:t>Software:</a:t>
            </a:r>
            <a:r>
              <a:rPr lang="en-US" dirty="0"/>
              <a:t> Guidewire’s software applications support the entire insurance lifecycle—from digitally engaging with customers to optimizing core operations to enabling smart decision-making. </a:t>
            </a:r>
          </a:p>
          <a:p>
            <a:endParaRPr lang="en-US" dirty="0"/>
          </a:p>
          <a:p>
            <a:r>
              <a:rPr lang="en-US" b="1" dirty="0"/>
              <a:t>Services:</a:t>
            </a:r>
            <a:r>
              <a:rPr lang="en-US" dirty="0"/>
              <a:t> Guidewire services include implementation, support, and operational services, including simplifying IT through cloud services to support customers after go-live. </a:t>
            </a:r>
          </a:p>
          <a:p>
            <a:endParaRPr lang="en-US" dirty="0"/>
          </a:p>
          <a:p>
            <a:r>
              <a:rPr lang="en-US" b="1" dirty="0"/>
              <a:t>Partner Ecosystem:</a:t>
            </a:r>
            <a:r>
              <a:rPr lang="en-US" dirty="0"/>
              <a:t> GW partner ecosystem provides access to applications and content provided by established players and </a:t>
            </a:r>
            <a:r>
              <a:rPr lang="en-US" dirty="0" err="1"/>
              <a:t>insurtechs</a:t>
            </a:r>
            <a:r>
              <a:rPr lang="en-US" dirty="0"/>
              <a:t>, promoting insurers’ ability to innovate quickly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8</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8</a:t>
            </a:fld>
            <a:endParaRPr lang="en-US" altLang="en-US" sz="1200" b="0" dirty="0">
              <a:solidFill>
                <a:schemeClr val="tx1"/>
              </a:solidFill>
            </a:endParaRPr>
          </a:p>
        </p:txBody>
      </p:sp>
    </p:spTree>
    <p:extLst>
      <p:ext uri="{BB962C8B-B14F-4D97-AF65-F5344CB8AC3E}">
        <p14:creationId xmlns:p14="http://schemas.microsoft.com/office/powerpoint/2010/main" val="1469451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PolicyCenter Overview - </a:t>
            </a:r>
            <a:fld id="{B87EB1BB-ACB0-4308-851A-35F19A066D39}" type="slidenum">
              <a:rPr lang="en-US" altLang="en-US" sz="1200" b="0">
                <a:solidFill>
                  <a:schemeClr val="tx1"/>
                </a:solidFill>
              </a:rPr>
              <a:pPr algn="l" eaLnBrk="1" hangingPunct="1">
                <a:spcBef>
                  <a:spcPct val="0"/>
                </a:spcBef>
                <a:spcAft>
                  <a:spcPct val="0"/>
                </a:spcAft>
                <a:buClrTx/>
              </a:pPr>
              <a:t>9</a:t>
            </a:fld>
            <a:endParaRPr lang="en-US" altLang="en-US" sz="1200" b="0" dirty="0">
              <a:solidFill>
                <a:schemeClr val="tx1"/>
              </a:solidFill>
            </a:endParaRPr>
          </a:p>
        </p:txBody>
      </p:sp>
      <p:sp>
        <p:nvSpPr>
          <p:cNvPr id="36867"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3883332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Guidewire Core</a:t>
            </a:r>
          </a:p>
          <a:p>
            <a:r>
              <a:rPr lang="en-US" dirty="0"/>
              <a:t>With a comprehensive set of capabilities— underwriting, policy administration, billing, and claims management— the core systems cover the entire P&amp;C insurance lifecycle.</a:t>
            </a:r>
          </a:p>
          <a:p>
            <a:endParaRPr lang="en-US" dirty="0"/>
          </a:p>
          <a:p>
            <a:pPr marL="0" indent="0">
              <a:buNone/>
            </a:pPr>
            <a:r>
              <a:rPr lang="en-US" b="1" dirty="0"/>
              <a:t>Guidewire Data and Analytics </a:t>
            </a:r>
          </a:p>
          <a:p>
            <a:r>
              <a:rPr lang="en-US" dirty="0"/>
              <a:t>With Guidewire’s data and analytics solutions one can get  a full view of the data to enable and even automate the right decisions at the right time across the insurance lifecycle</a:t>
            </a:r>
          </a:p>
          <a:p>
            <a:endParaRPr lang="en-US" dirty="0"/>
          </a:p>
          <a:p>
            <a:pPr marL="0" indent="0">
              <a:buNone/>
            </a:pPr>
            <a:r>
              <a:rPr lang="en-US" b="1" dirty="0"/>
              <a:t>Guidewire Digital™</a:t>
            </a:r>
          </a:p>
          <a:p>
            <a:r>
              <a:rPr lang="en-US" dirty="0"/>
              <a:t>Reach policyholders, agents, employees, and vendors where it’s most convenient by supporting digital sales, service, and claims journeys.</a:t>
            </a:r>
          </a:p>
          <a:p>
            <a:endParaRPr lang="en-US" baseline="0" dirty="0"/>
          </a:p>
          <a:p>
            <a:r>
              <a:rPr lang="en-US" b="1" dirty="0"/>
              <a:t>Guidewire Cloud™ </a:t>
            </a:r>
          </a:p>
          <a:p>
            <a:r>
              <a:rPr lang="en-US" dirty="0"/>
              <a:t>Guidewire delivers Software-as-a-Service (SaaS) solutions via Guidewire Cloud. Guidewire Cloud enables insurers to focus on business agility while transferring undifferentiating IT responsibilities to Guidewire, in exchange for a subscription fee that is adjusted for usage to increase the predictability of cost</a:t>
            </a: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10</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10</a:t>
            </a:fld>
            <a:endParaRPr lang="en-US" altLang="en-US" sz="1200" b="0" dirty="0">
              <a:solidFill>
                <a:schemeClr val="tx1"/>
              </a:solidFill>
            </a:endParaRPr>
          </a:p>
        </p:txBody>
      </p:sp>
    </p:spTree>
    <p:extLst>
      <p:ext uri="{BB962C8B-B14F-4D97-AF65-F5344CB8AC3E}">
        <p14:creationId xmlns:p14="http://schemas.microsoft.com/office/powerpoint/2010/main" val="2753149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11</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11</a:t>
            </a:fld>
            <a:endParaRPr lang="en-US" altLang="en-US" sz="1200" b="0" dirty="0">
              <a:solidFill>
                <a:schemeClr val="tx1"/>
              </a:solidFill>
            </a:endParaRPr>
          </a:p>
        </p:txBody>
      </p:sp>
    </p:spTree>
    <p:extLst>
      <p:ext uri="{BB962C8B-B14F-4D97-AF65-F5344CB8AC3E}">
        <p14:creationId xmlns:p14="http://schemas.microsoft.com/office/powerpoint/2010/main" val="2999929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12</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12</a:t>
            </a:fld>
            <a:endParaRPr lang="en-US" altLang="en-US" sz="1200" b="0" dirty="0">
              <a:solidFill>
                <a:schemeClr val="tx1"/>
              </a:solidFill>
            </a:endParaRPr>
          </a:p>
        </p:txBody>
      </p:sp>
    </p:spTree>
    <p:extLst>
      <p:ext uri="{BB962C8B-B14F-4D97-AF65-F5344CB8AC3E}">
        <p14:creationId xmlns:p14="http://schemas.microsoft.com/office/powerpoint/2010/main" val="685714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r>
              <a:rPr lang="en-US" dirty="0">
                <a:solidFill>
                  <a:srgbClr val="424242"/>
                </a:solidFill>
                <a:latin typeface="Gartner sans"/>
              </a:rPr>
              <a:t>T</a:t>
            </a:r>
            <a:r>
              <a:rPr lang="en-US" i="0" dirty="0">
                <a:solidFill>
                  <a:srgbClr val="424242"/>
                </a:solidFill>
                <a:effectLst/>
                <a:latin typeface="Gartner sans"/>
              </a:rPr>
              <a:t>raditional P&amp;C core systems are complex as they are designed to serve the need of all insurers including the world’s largest and most complex requiring large teams of people to implement, integrate and support.</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13</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13</a:t>
            </a:fld>
            <a:endParaRPr lang="en-US" altLang="en-US" sz="1200" b="0" dirty="0">
              <a:solidFill>
                <a:schemeClr val="tx1"/>
              </a:solidFill>
            </a:endParaRPr>
          </a:p>
        </p:txBody>
      </p:sp>
    </p:spTree>
    <p:extLst>
      <p:ext uri="{BB962C8B-B14F-4D97-AF65-F5344CB8AC3E}">
        <p14:creationId xmlns:p14="http://schemas.microsoft.com/office/powerpoint/2010/main" val="30553536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14</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14</a:t>
            </a:fld>
            <a:endParaRPr lang="en-US" altLang="en-US" sz="1200" b="0" dirty="0">
              <a:solidFill>
                <a:schemeClr val="tx1"/>
              </a:solidFill>
            </a:endParaRPr>
          </a:p>
        </p:txBody>
      </p:sp>
    </p:spTree>
    <p:extLst>
      <p:ext uri="{BB962C8B-B14F-4D97-AF65-F5344CB8AC3E}">
        <p14:creationId xmlns:p14="http://schemas.microsoft.com/office/powerpoint/2010/main" val="3923564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15</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15</a:t>
            </a:fld>
            <a:endParaRPr lang="en-US" altLang="en-US" sz="1200" b="0" dirty="0">
              <a:solidFill>
                <a:schemeClr val="tx1"/>
              </a:solidFill>
            </a:endParaRPr>
          </a:p>
        </p:txBody>
      </p:sp>
    </p:spTree>
    <p:extLst>
      <p:ext uri="{BB962C8B-B14F-4D97-AF65-F5344CB8AC3E}">
        <p14:creationId xmlns:p14="http://schemas.microsoft.com/office/powerpoint/2010/main" val="1685971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16</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16</a:t>
            </a:fld>
            <a:endParaRPr lang="en-US" altLang="en-US" sz="1200" b="0" dirty="0">
              <a:solidFill>
                <a:schemeClr val="tx1"/>
              </a:solidFill>
            </a:endParaRPr>
          </a:p>
        </p:txBody>
      </p:sp>
    </p:spTree>
    <p:extLst>
      <p:ext uri="{BB962C8B-B14F-4D97-AF65-F5344CB8AC3E}">
        <p14:creationId xmlns:p14="http://schemas.microsoft.com/office/powerpoint/2010/main" val="2500419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BUILD: Upload, validate, and promote your data; invoke the analytic engine to create models based on the data; and apply preexisting models to a new set of data or to data that was aged. BUILD also includes utilities to create, update, and review scenarios that specify models to be applied to new or aged data, and then submit the processing job. The BUILD application provides efficiency and consistency with a repeatable process. </a:t>
            </a:r>
          </a:p>
          <a:p>
            <a:pPr lvl="1"/>
            <a:endParaRPr lang="en-US" dirty="0"/>
          </a:p>
          <a:p>
            <a:pPr lvl="1"/>
            <a:r>
              <a:rPr lang="en-US" dirty="0"/>
              <a:t>DEPLOY: Combine one or more models, augment those models with supplemental logic, and create an API endpoint that can be called from the core system. DEPLOY also includes the Bring Your Own Model (BYOM) capability to import ready-</a:t>
            </a:r>
            <a:r>
              <a:rPr lang="en-US" dirty="0" err="1"/>
              <a:t>touse</a:t>
            </a:r>
            <a:r>
              <a:rPr lang="en-US" dirty="0"/>
              <a:t> models built using third-party systems (along with their data sets) and deploy those models as solutions. DEPLOY also includes an embedded analytics framework (EAF), which quickly operationalizes multiple modeling solutions into </a:t>
            </a:r>
            <a:r>
              <a:rPr lang="en-US" dirty="0" err="1"/>
              <a:t>PolicyCenter</a:t>
            </a:r>
            <a:r>
              <a:rPr lang="en-US" dirty="0"/>
              <a:t>, </a:t>
            </a:r>
            <a:r>
              <a:rPr lang="en-US" dirty="0" err="1"/>
              <a:t>ClaimCenter</a:t>
            </a:r>
            <a:r>
              <a:rPr lang="en-US" dirty="0"/>
              <a:t>, and </a:t>
            </a:r>
            <a:r>
              <a:rPr lang="en-US" dirty="0" err="1"/>
              <a:t>InsuranceNow</a:t>
            </a:r>
            <a:r>
              <a:rPr lang="en-US" dirty="0"/>
              <a:t> in a matter of minutes. </a:t>
            </a:r>
          </a:p>
          <a:p>
            <a:pPr lvl="1"/>
            <a:endParaRPr lang="en-US" dirty="0"/>
          </a:p>
          <a:p>
            <a:pPr lvl="1"/>
            <a:r>
              <a:rPr lang="en-US" dirty="0"/>
              <a:t>MONITOR: Business conditions and modeling data change all the time. Therefore, it is essential to continuously evaluate how a model is performing. MONITOR conducts continuous, real-time audits to assess performance and notify users of adverse situations.</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17</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17</a:t>
            </a:fld>
            <a:endParaRPr lang="en-US" altLang="en-US" sz="1200" b="0" dirty="0">
              <a:solidFill>
                <a:schemeClr val="tx1"/>
              </a:solidFill>
            </a:endParaRPr>
          </a:p>
        </p:txBody>
      </p:sp>
    </p:spTree>
    <p:extLst>
      <p:ext uri="{BB962C8B-B14F-4D97-AF65-F5344CB8AC3E}">
        <p14:creationId xmlns:p14="http://schemas.microsoft.com/office/powerpoint/2010/main" val="31373407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18</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18</a:t>
            </a:fld>
            <a:endParaRPr lang="en-US" altLang="en-US" sz="1200" b="0" dirty="0">
              <a:solidFill>
                <a:schemeClr val="tx1"/>
              </a:solidFill>
            </a:endParaRPr>
          </a:p>
        </p:txBody>
      </p:sp>
    </p:spTree>
    <p:extLst>
      <p:ext uri="{BB962C8B-B14F-4D97-AF65-F5344CB8AC3E}">
        <p14:creationId xmlns:p14="http://schemas.microsoft.com/office/powerpoint/2010/main" val="2152915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Guidewire Canvas is an interactive app that is included with Guidewire </a:t>
            </a:r>
            <a:r>
              <a:rPr lang="en-US" dirty="0" err="1"/>
              <a:t>ClaimCenter</a:t>
            </a:r>
            <a:r>
              <a:rPr lang="en-US" dirty="0"/>
              <a:t> cloud subscription</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19</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19</a:t>
            </a:fld>
            <a:endParaRPr lang="en-US" altLang="en-US" sz="1200" b="0" dirty="0">
              <a:solidFill>
                <a:schemeClr val="tx1"/>
              </a:solidFill>
            </a:endParaRPr>
          </a:p>
        </p:txBody>
      </p:sp>
    </p:spTree>
    <p:extLst>
      <p:ext uri="{BB962C8B-B14F-4D97-AF65-F5344CB8AC3E}">
        <p14:creationId xmlns:p14="http://schemas.microsoft.com/office/powerpoint/2010/main" val="518329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b="0" dirty="0">
                <a:solidFill>
                  <a:srgbClr val="424242"/>
                </a:solidFill>
                <a:latin typeface="Gartner sans"/>
              </a:rPr>
              <a:t>Guidewire Compare </a:t>
            </a:r>
            <a:r>
              <a:rPr lang="en-US" dirty="0">
                <a:solidFill>
                  <a:srgbClr val="424242"/>
                </a:solidFill>
                <a:latin typeface="Gartner sans"/>
              </a:rPr>
              <a:t>is a cloud-native analytic application that is included with </a:t>
            </a:r>
            <a:r>
              <a:rPr lang="en-US" dirty="0" err="1">
                <a:solidFill>
                  <a:srgbClr val="424242"/>
                </a:solidFill>
                <a:latin typeface="Gartner sans"/>
              </a:rPr>
              <a:t>ClaimCenter</a:t>
            </a:r>
            <a:r>
              <a:rPr lang="en-US" dirty="0">
                <a:solidFill>
                  <a:srgbClr val="424242"/>
                </a:solidFill>
                <a:latin typeface="Gartner sans"/>
              </a:rPr>
              <a:t> subscription. </a:t>
            </a:r>
          </a:p>
          <a:p>
            <a:pPr marL="228600" lvl="1" indent="0">
              <a:buNone/>
            </a:pPr>
            <a:r>
              <a:rPr lang="en-US" dirty="0"/>
              <a:t>• Monitor key claims measures • Set up claims and exposure scenarios • Feedback with continuous tracking and measurement • Secure, anonymous, and comparable peer insurer benchmarks • Simple design, easy to use, boosts user productivity</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20</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20</a:t>
            </a:fld>
            <a:endParaRPr lang="en-US" altLang="en-US" sz="1200" b="0" dirty="0">
              <a:solidFill>
                <a:schemeClr val="tx1"/>
              </a:solidFill>
            </a:endParaRPr>
          </a:p>
        </p:txBody>
      </p:sp>
    </p:spTree>
    <p:extLst>
      <p:ext uri="{BB962C8B-B14F-4D97-AF65-F5344CB8AC3E}">
        <p14:creationId xmlns:p14="http://schemas.microsoft.com/office/powerpoint/2010/main" val="421922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1" indent="0">
              <a:buNone/>
            </a:pPr>
            <a:r>
              <a:rPr lang="en-US" dirty="0"/>
              <a:t>• Access to curated Guidewire core system data in near-real time • Personalized solutions for claims, underwriting, sales, and service management • Simple, intuitive, collaborative user experience • Self-service BI</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21</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21</a:t>
            </a:fld>
            <a:endParaRPr lang="en-US" altLang="en-US" sz="1200" b="0" dirty="0">
              <a:solidFill>
                <a:schemeClr val="tx1"/>
              </a:solidFill>
            </a:endParaRPr>
          </a:p>
        </p:txBody>
      </p:sp>
    </p:spTree>
    <p:extLst>
      <p:ext uri="{BB962C8B-B14F-4D97-AF65-F5344CB8AC3E}">
        <p14:creationId xmlns:p14="http://schemas.microsoft.com/office/powerpoint/2010/main" val="3474047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1" indent="0">
              <a:buNone/>
            </a:pP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22</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22</a:t>
            </a:fld>
            <a:endParaRPr lang="en-US" altLang="en-US" sz="1200" b="0" dirty="0">
              <a:solidFill>
                <a:schemeClr val="tx1"/>
              </a:solidFill>
            </a:endParaRPr>
          </a:p>
        </p:txBody>
      </p:sp>
    </p:spTree>
    <p:extLst>
      <p:ext uri="{BB962C8B-B14F-4D97-AF65-F5344CB8AC3E}">
        <p14:creationId xmlns:p14="http://schemas.microsoft.com/office/powerpoint/2010/main" val="12296372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1" indent="0">
              <a:buNone/>
            </a:pPr>
            <a:r>
              <a:rPr lang="en-US" dirty="0"/>
              <a:t>• Data listening: Collect technical and behavioral threat data from 400+ sources and 1,000+ data points in real time. Get a complete view of target companies and portfolios. • Risk modeling: Model the frequency and severity of cyberattacks with accuracy. Easily see which companies are at risk for a cyberattack. • Granular insights: Get personalized risk factors and dynamic loss analysis for companies, portfolios, industries, and more. Use insights to power underwriting and risk management.</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23</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23</a:t>
            </a:fld>
            <a:endParaRPr lang="en-US" altLang="en-US" sz="1200" b="0" dirty="0">
              <a:solidFill>
                <a:schemeClr val="tx1"/>
              </a:solidFill>
            </a:endParaRPr>
          </a:p>
        </p:txBody>
      </p:sp>
    </p:spTree>
    <p:extLst>
      <p:ext uri="{BB962C8B-B14F-4D97-AF65-F5344CB8AC3E}">
        <p14:creationId xmlns:p14="http://schemas.microsoft.com/office/powerpoint/2010/main" val="6641154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1" indent="0">
              <a:buNone/>
            </a:pPr>
            <a:r>
              <a:rPr lang="en-US" dirty="0"/>
              <a:t>Guidewire Data Platform gathers data from Guidewire core systems, legacy core systems, and external and third-party data, as well as from data contributed by the Guidewire customer universe. Data is collected via streaming into a data lake–type repository and via batch ETL into a data warehouse–type repository. The data is then curated, first using simple principles of leveraging metadata and then into business-ready data sets and batch data marts. The </a:t>
            </a:r>
            <a:r>
              <a:rPr lang="en-US" dirty="0" err="1"/>
              <a:t>valueadded</a:t>
            </a:r>
            <a:r>
              <a:rPr lang="en-US" dirty="0"/>
              <a:t> services of the data platform then use the curated data to support customer data usage scenarios and to power Guidewire applications and solutions.</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24</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24</a:t>
            </a:fld>
            <a:endParaRPr lang="en-US" altLang="en-US" sz="1200" b="0" dirty="0">
              <a:solidFill>
                <a:schemeClr val="tx1"/>
              </a:solidFill>
            </a:endParaRPr>
          </a:p>
        </p:txBody>
      </p:sp>
    </p:spTree>
    <p:extLst>
      <p:ext uri="{BB962C8B-B14F-4D97-AF65-F5344CB8AC3E}">
        <p14:creationId xmlns:p14="http://schemas.microsoft.com/office/powerpoint/2010/main" val="38146883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1" indent="0">
              <a:buNone/>
            </a:pP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25</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25</a:t>
            </a:fld>
            <a:endParaRPr lang="en-US" altLang="en-US" sz="1200" b="0" dirty="0">
              <a:solidFill>
                <a:schemeClr val="tx1"/>
              </a:solidFill>
            </a:endParaRPr>
          </a:p>
        </p:txBody>
      </p:sp>
    </p:spTree>
    <p:extLst>
      <p:ext uri="{BB962C8B-B14F-4D97-AF65-F5344CB8AC3E}">
        <p14:creationId xmlns:p14="http://schemas.microsoft.com/office/powerpoint/2010/main" val="27874781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1" indent="0">
              <a:buNone/>
            </a:pP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26</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26</a:t>
            </a:fld>
            <a:endParaRPr lang="en-US" altLang="en-US" sz="1200" b="0" dirty="0">
              <a:solidFill>
                <a:schemeClr val="tx1"/>
              </a:solidFill>
            </a:endParaRPr>
          </a:p>
        </p:txBody>
      </p:sp>
    </p:spTree>
    <p:extLst>
      <p:ext uri="{BB962C8B-B14F-4D97-AF65-F5344CB8AC3E}">
        <p14:creationId xmlns:p14="http://schemas.microsoft.com/office/powerpoint/2010/main" val="21784387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1" indent="0">
              <a:buNone/>
            </a:pPr>
            <a:r>
              <a:rPr lang="en-US" dirty="0"/>
              <a:t>Guidewire Telematics Partners • </a:t>
            </a:r>
            <a:r>
              <a:rPr lang="en-US" dirty="0" err="1"/>
              <a:t>TrueMotion</a:t>
            </a:r>
            <a:r>
              <a:rPr lang="en-US" dirty="0"/>
              <a:t> • Cambridge Mobile Telematics</a:t>
            </a:r>
            <a:endParaRPr lang="en-US" b="1" dirty="0">
              <a:solidFill>
                <a:srgbClr val="424242"/>
              </a:solidFill>
              <a:latin typeface="Gartner sans"/>
            </a:endParaRP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27</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27</a:t>
            </a:fld>
            <a:endParaRPr lang="en-US" altLang="en-US" sz="1200" b="0" dirty="0">
              <a:solidFill>
                <a:schemeClr val="tx1"/>
              </a:solidFill>
            </a:endParaRPr>
          </a:p>
        </p:txBody>
      </p:sp>
    </p:spTree>
    <p:extLst>
      <p:ext uri="{BB962C8B-B14F-4D97-AF65-F5344CB8AC3E}">
        <p14:creationId xmlns:p14="http://schemas.microsoft.com/office/powerpoint/2010/main" val="33277402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PolicyCenter Overview - </a:t>
            </a:r>
            <a:fld id="{B87EB1BB-ACB0-4308-851A-35F19A066D39}" type="slidenum">
              <a:rPr lang="en-US" altLang="en-US" sz="1200" b="0">
                <a:solidFill>
                  <a:schemeClr val="tx1"/>
                </a:solidFill>
              </a:rPr>
              <a:pPr algn="l" eaLnBrk="1" hangingPunct="1">
                <a:spcBef>
                  <a:spcPct val="0"/>
                </a:spcBef>
                <a:spcAft>
                  <a:spcPct val="0"/>
                </a:spcAft>
                <a:buClrTx/>
              </a:pPr>
              <a:t>28</a:t>
            </a:fld>
            <a:endParaRPr lang="en-US" altLang="en-US" sz="1200" b="0" dirty="0">
              <a:solidFill>
                <a:schemeClr val="tx1"/>
              </a:solidFill>
            </a:endParaRPr>
          </a:p>
        </p:txBody>
      </p:sp>
      <p:sp>
        <p:nvSpPr>
          <p:cNvPr id="36867"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32425830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dirty="0"/>
              <a:t>Guidewire builds software</a:t>
            </a:r>
            <a:r>
              <a:rPr lang="en-US" baseline="0" dirty="0"/>
              <a:t> products that help property and casualty (P&amp;C) insurers replace their legacy core systems and transform their business. Guidewire provides core systems and data management/business intelligence tools used by insurers as operational systems of record. Additional products provide support for anytime/anywhere access and guidance and monitoring.</a:t>
            </a:r>
          </a:p>
          <a:p>
            <a:endParaRPr lang="en-US" baseline="0" dirty="0"/>
          </a:p>
          <a:p>
            <a:r>
              <a:rPr lang="en-US" baseline="0" dirty="0"/>
              <a:t>Who uses Guidewire products?</a:t>
            </a:r>
          </a:p>
          <a:p>
            <a:endParaRPr lang="en-US" baseline="0" dirty="0"/>
          </a:p>
          <a:p>
            <a:pPr marL="514350" lvl="1" indent="-171450">
              <a:buFont typeface="Arial" pitchFamily="34" charset="0"/>
              <a:buChar char="•"/>
            </a:pPr>
            <a:r>
              <a:rPr lang="en-US" baseline="0" dirty="0"/>
              <a:t>Everything in the blue circle is targeted at internal users at insurance companies—claims adjusters, underwriters, risk managers, customer service representatives, billing clerks, and so on. </a:t>
            </a:r>
            <a:br>
              <a:rPr lang="en-US" baseline="0" dirty="0"/>
            </a:br>
            <a:endParaRPr lang="en-US" baseline="0" dirty="0"/>
          </a:p>
          <a:p>
            <a:pPr marL="514350" lvl="1" indent="-171450">
              <a:buFont typeface="Arial" pitchFamily="34" charset="0"/>
              <a:buChar char="•"/>
            </a:pPr>
            <a:r>
              <a:rPr lang="en-US" baseline="0" dirty="0"/>
              <a:t>External Access includes two types of users: </a:t>
            </a:r>
          </a:p>
          <a:p>
            <a:pPr marL="742950" lvl="2" indent="-171450">
              <a:buFont typeface="Arial" pitchFamily="34" charset="0"/>
              <a:buChar char="•"/>
            </a:pPr>
            <a:r>
              <a:rPr lang="en-US" baseline="0" dirty="0"/>
              <a:t>Third-party users such as policyholders and vendors, who can't log in to the core systems but need to access some of the data that lives in those systems. </a:t>
            </a:r>
          </a:p>
          <a:p>
            <a:pPr marL="742950" lvl="2" indent="-171450">
              <a:buFont typeface="Arial" pitchFamily="34" charset="0"/>
              <a:buChar char="•"/>
            </a:pPr>
            <a:r>
              <a:rPr lang="en-US" baseline="0" dirty="0"/>
              <a:t>Authorized users of the core systems who have special requirements, such as an adjuster who is currently mobile after a catastrophe and has no internet access but needs to take pictures and take notes to upload later.</a:t>
            </a:r>
            <a:br>
              <a:rPr lang="en-US" baseline="0" dirty="0"/>
            </a:br>
            <a:endParaRPr lang="en-US" baseline="0" dirty="0"/>
          </a:p>
          <a:p>
            <a:pPr marL="514350" lvl="1" indent="-171450">
              <a:buFont typeface="Arial" pitchFamily="34" charset="0"/>
              <a:buChar char="•"/>
            </a:pPr>
            <a:r>
              <a:rPr lang="en-US" baseline="0" dirty="0"/>
              <a:t>Monitoring and Guidance describes a variety of hosted services that enable carriers to use cloud-based applications in their day-to-day workflow. Hosted services include geographic visualization, catastrophe capture, and comparison of peer insurer benchmarks, among others. </a:t>
            </a:r>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29</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29</a:t>
            </a:fld>
            <a:endParaRPr lang="en-US" altLang="en-US" sz="1200" b="0" dirty="0">
              <a:solidFill>
                <a:schemeClr val="tx1"/>
              </a:solidFill>
            </a:endParaRPr>
          </a:p>
        </p:txBody>
      </p:sp>
    </p:spTree>
    <p:extLst>
      <p:ext uri="{BB962C8B-B14F-4D97-AF65-F5344CB8AC3E}">
        <p14:creationId xmlns:p14="http://schemas.microsoft.com/office/powerpoint/2010/main" val="319902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baseline="0" dirty="0"/>
              <a:t>Operational Systems of Record</a:t>
            </a:r>
          </a:p>
          <a:p>
            <a:r>
              <a:rPr lang="en-US" b="0" baseline="0" dirty="0"/>
              <a:t>In the area of Core Operations Support, </a:t>
            </a:r>
            <a:r>
              <a:rPr lang="en-US" baseline="0" dirty="0"/>
              <a:t>Guidewire InsuranceSuite provides a complete set of applications to support a carrier's core operations—underwriting, policy administration, billing, and claim management. </a:t>
            </a:r>
            <a:r>
              <a:rPr lang="en-US" sz="1000" kern="1200" dirty="0">
                <a:solidFill>
                  <a:schemeClr val="tx1"/>
                </a:solidFill>
                <a:effectLst/>
                <a:latin typeface="Arial" charset="0"/>
                <a:ea typeface="+mn-ea"/>
                <a:cs typeface="+mn-cs"/>
              </a:rPr>
              <a:t>The slide provides a high-level view of the core Guidewire products. It is not an exhaustive list of all applications and licensed features. Therefore, some features and products, such as </a:t>
            </a:r>
            <a:r>
              <a:rPr lang="en-US" sz="1000" kern="1200" dirty="0" err="1">
                <a:solidFill>
                  <a:schemeClr val="tx1"/>
                </a:solidFill>
                <a:effectLst/>
                <a:latin typeface="Arial" charset="0"/>
                <a:ea typeface="+mn-ea"/>
                <a:cs typeface="+mn-cs"/>
              </a:rPr>
              <a:t>ContactManager</a:t>
            </a:r>
            <a:r>
              <a:rPr lang="en-US" sz="1000" kern="1200" dirty="0">
                <a:solidFill>
                  <a:schemeClr val="tx1"/>
                </a:solidFill>
                <a:effectLst/>
                <a:latin typeface="Arial" charset="0"/>
                <a:ea typeface="+mn-ea"/>
                <a:cs typeface="+mn-cs"/>
              </a:rPr>
              <a:t>, Client Data Management, PolicyCenter Rating, PolicyCenter Reinsurance, and the ISO Standards-Based templates, are not shown.</a:t>
            </a:r>
          </a:p>
          <a:p>
            <a:endParaRPr lang="en-US" baseline="0" dirty="0"/>
          </a:p>
          <a:p>
            <a:r>
              <a:rPr lang="en-US" b="0" baseline="0" dirty="0"/>
              <a:t>In the area of Data Management and Business Intelligence, </a:t>
            </a:r>
            <a:r>
              <a:rPr lang="en-US" baseline="0" dirty="0"/>
              <a:t>Guidewire DataHub is an operational data store that unifies, standardizes, and stores data from a carrier's own systems as well as external sources. Guidewire InfoCenter is a business intelligence warehouse that is purpose-built for P&amp;C insurance. It provides easy-to-use reporting formats for business intelligence, analysis, and enhanced decision making. Using InfoCenter, carriers gain operational insight across the enterprise.</a:t>
            </a:r>
          </a:p>
          <a:p>
            <a:endParaRPr lang="en-US" baseline="0" dirty="0"/>
          </a:p>
          <a:p>
            <a:r>
              <a:rPr lang="en-US" b="1" baseline="0" dirty="0"/>
              <a:t>Monitoring and Guidance</a:t>
            </a:r>
          </a:p>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dirty="0"/>
              <a:t>Guidewire Live is a network that connects peer insurers, core systems data, external sources of information (such as weather services), and expert tools. Users access Guidewire Live through applications hosted by Guidewire and designed for specific challenges faced by P&amp;C insurance professionals. </a:t>
            </a:r>
          </a:p>
          <a:p>
            <a:endParaRPr lang="en-US" baseline="0" dirty="0"/>
          </a:p>
          <a:p>
            <a:r>
              <a:rPr lang="en-US" b="1" baseline="0" dirty="0"/>
              <a:t>External Access</a:t>
            </a:r>
          </a:p>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dirty="0"/>
              <a:t>Mobile &amp; Portals is a new set of applications that feature add-on products to the Guidewire core suite, providing self-service transactions through various mobile channels.</a:t>
            </a:r>
            <a:endParaRPr lang="en-US" dirty="0"/>
          </a:p>
          <a:p>
            <a:endParaRPr lang="en-US" b="1"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30</a:t>
            </a:fld>
            <a:endParaRPr lang="en-US" altLang="en-US" dirty="0">
              <a:solidFill>
                <a:prstClr val="white"/>
              </a:solidFill>
            </a:endParaRPr>
          </a:p>
        </p:txBody>
      </p:sp>
      <p:sp>
        <p:nvSpPr>
          <p:cNvPr id="6" name="Copyright"/>
          <p:cNvSpPr txBox="1">
            <a:spLocks noChangeArrowheads="1"/>
          </p:cNvSpPr>
          <p:nvPr/>
        </p:nvSpPr>
        <p:spPr bwMode="auto">
          <a:xfrm>
            <a:off x="462050"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30</a:t>
            </a:fld>
            <a:endParaRPr lang="en-US" altLang="en-US" sz="1200" b="0" dirty="0">
              <a:solidFill>
                <a:schemeClr val="tx1"/>
              </a:solidFill>
            </a:endParaRPr>
          </a:p>
        </p:txBody>
      </p:sp>
    </p:spTree>
    <p:extLst>
      <p:ext uri="{BB962C8B-B14F-4D97-AF65-F5344CB8AC3E}">
        <p14:creationId xmlns:p14="http://schemas.microsoft.com/office/powerpoint/2010/main" val="3199024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algn="l" eaLnBrk="1" hangingPunct="1">
              <a:spcBef>
                <a:spcPct val="0"/>
              </a:spcBef>
              <a:spcAft>
                <a:spcPct val="0"/>
              </a:spcAft>
              <a:buClrTx/>
            </a:pPr>
            <a:r>
              <a:rPr lang="en-US" altLang="en-US" sz="1200" b="0" dirty="0">
                <a:solidFill>
                  <a:prstClr val="black"/>
                </a:solidFill>
              </a:rPr>
              <a:t>	</a:t>
            </a:r>
            <a:r>
              <a:rPr lang="en-US" altLang="en-US" sz="1200" b="0" dirty="0">
                <a:solidFill>
                  <a:schemeClr val="tx1"/>
                </a:solidFill>
              </a:rPr>
              <a:t> PolicyCenter Overview </a:t>
            </a:r>
            <a:r>
              <a:rPr lang="en-US" altLang="en-US" sz="1200" b="0" dirty="0">
                <a:solidFill>
                  <a:prstClr val="black"/>
                </a:solidFill>
              </a:rPr>
              <a:t>- </a:t>
            </a:r>
            <a:fld id="{227CA449-5AA9-4F71-90AB-7E6B9195AE98}" type="slidenum">
              <a:rPr lang="en-US" altLang="en-US" sz="1200" b="0" smtClean="0">
                <a:solidFill>
                  <a:prstClr val="black"/>
                </a:solidFill>
              </a:rPr>
              <a:pPr algn="l" eaLnBrk="1" hangingPunct="1">
                <a:spcBef>
                  <a:spcPct val="0"/>
                </a:spcBef>
                <a:spcAft>
                  <a:spcPct val="0"/>
                </a:spcAft>
                <a:buClrTx/>
              </a:pPr>
              <a:t>31</a:t>
            </a:fld>
            <a:endParaRPr lang="en-US" altLang="en-US" sz="1200" b="0" dirty="0">
              <a:solidFill>
                <a:prstClr val="black"/>
              </a:solidFill>
            </a:endParaRPr>
          </a:p>
        </p:txBody>
      </p:sp>
      <p:sp>
        <p:nvSpPr>
          <p:cNvPr id="49155"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prstClr val="black"/>
                </a:solidFill>
              </a:rPr>
              <a:t>	</a:t>
            </a:r>
            <a:endParaRPr lang="en-US" sz="1200" b="0">
              <a:solidFill>
                <a:prstClr val="black"/>
              </a:solidFill>
            </a:endParaRPr>
          </a:p>
        </p:txBody>
      </p:sp>
      <p:sp>
        <p:nvSpPr>
          <p:cNvPr id="49156" name="Rectangle 2"/>
          <p:cNvSpPr>
            <a:spLocks noGrp="1" noRot="1" noChangeAspect="1" noChangeArrowheads="1" noTextEdit="1"/>
          </p:cNvSpPr>
          <p:nvPr>
            <p:ph type="sldImg"/>
          </p:nvPr>
        </p:nvSpPr>
        <p:spPr>
          <a:xfrm>
            <a:off x="717550" y="630238"/>
            <a:ext cx="5429250"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Three-tier architecture is a client-server architecture in which the operational data, application logic, and user interface are developed and maintained as independent modules on separate platforms. Three-tier architecture is one of the industry-standard software architectures.</a:t>
            </a:r>
          </a:p>
          <a:p>
            <a:pPr lvl="1"/>
            <a:r>
              <a:rPr lang="en-US" sz="1000" kern="1200" dirty="0">
                <a:solidFill>
                  <a:schemeClr val="tx1"/>
                </a:solidFill>
                <a:effectLst/>
                <a:latin typeface="Arial" charset="0"/>
                <a:ea typeface="+mn-ea"/>
                <a:cs typeface="+mn-cs"/>
              </a:rPr>
              <a:t>The data tier contains the business and operational database. It is hosted in an Oracle or SQL Server database or cluster of databases.</a:t>
            </a:r>
          </a:p>
          <a:p>
            <a:pPr lvl="1"/>
            <a:r>
              <a:rPr lang="en-US" sz="1000" kern="1200" dirty="0">
                <a:solidFill>
                  <a:schemeClr val="tx1"/>
                </a:solidFill>
                <a:effectLst/>
                <a:latin typeface="Arial" charset="0"/>
                <a:ea typeface="+mn-ea"/>
                <a:cs typeface="+mn-cs"/>
              </a:rPr>
              <a:t>The application tier contains the functional process logic. It is hosted in an application server such as </a:t>
            </a:r>
            <a:r>
              <a:rPr lang="en-US" sz="1000" kern="1200" dirty="0" err="1">
                <a:solidFill>
                  <a:schemeClr val="tx1"/>
                </a:solidFill>
                <a:effectLst/>
                <a:latin typeface="Arial" charset="0"/>
                <a:ea typeface="+mn-ea"/>
                <a:cs typeface="+mn-cs"/>
              </a:rPr>
              <a:t>WebLogic</a:t>
            </a:r>
            <a:r>
              <a:rPr lang="en-US" sz="1000" kern="1200" dirty="0">
                <a:solidFill>
                  <a:schemeClr val="tx1"/>
                </a:solidFill>
                <a:effectLst/>
                <a:latin typeface="Arial" charset="0"/>
                <a:ea typeface="+mn-ea"/>
                <a:cs typeface="+mn-cs"/>
              </a:rPr>
              <a:t>, </a:t>
            </a:r>
            <a:r>
              <a:rPr lang="en-US" sz="1000" kern="1200" dirty="0" err="1">
                <a:solidFill>
                  <a:schemeClr val="tx1"/>
                </a:solidFill>
                <a:effectLst/>
                <a:latin typeface="Arial" charset="0"/>
                <a:ea typeface="+mn-ea"/>
                <a:cs typeface="+mn-cs"/>
              </a:rPr>
              <a:t>WebSphere</a:t>
            </a:r>
            <a:r>
              <a:rPr lang="en-US" sz="1000" kern="1200" dirty="0">
                <a:solidFill>
                  <a:schemeClr val="tx1"/>
                </a:solidFill>
                <a:effectLst/>
                <a:latin typeface="Arial" charset="0"/>
                <a:ea typeface="+mn-ea"/>
                <a:cs typeface="+mn-cs"/>
              </a:rPr>
              <a:t>, Apache Tomcat, or </a:t>
            </a:r>
            <a:r>
              <a:rPr lang="en-US" sz="1000" kern="1200" dirty="0" err="1">
                <a:solidFill>
                  <a:schemeClr val="tx1"/>
                </a:solidFill>
                <a:effectLst/>
                <a:latin typeface="Arial" charset="0"/>
                <a:ea typeface="+mn-ea"/>
                <a:cs typeface="+mn-cs"/>
              </a:rPr>
              <a:t>JBoss</a:t>
            </a:r>
            <a:r>
              <a:rPr lang="en-US" sz="1000" kern="1200" dirty="0">
                <a:solidFill>
                  <a:schemeClr val="tx1"/>
                </a:solidFill>
                <a:effectLst/>
                <a:latin typeface="Arial" charset="0"/>
                <a:ea typeface="+mn-ea"/>
                <a:cs typeface="+mn-cs"/>
              </a:rPr>
              <a:t> EAP.</a:t>
            </a:r>
          </a:p>
          <a:p>
            <a:pPr lvl="1"/>
            <a:r>
              <a:rPr lang="en-US" sz="1000" kern="1200" dirty="0">
                <a:solidFill>
                  <a:schemeClr val="tx1"/>
                </a:solidFill>
                <a:effectLst/>
                <a:latin typeface="Arial" charset="0"/>
                <a:ea typeface="+mn-ea"/>
                <a:cs typeface="+mn-cs"/>
              </a:rPr>
              <a:t>The presentation tier contains the user interface. The Guidewire user interface is supported in these web browsers: Google Chrome, Mozilla Firefox, and Microsoft Internet Explorer.</a:t>
            </a:r>
          </a:p>
          <a:p>
            <a:pPr lvl="1"/>
            <a:r>
              <a:rPr lang="en-US" sz="1000" kern="1200" dirty="0">
                <a:solidFill>
                  <a:schemeClr val="tx1"/>
                </a:solidFill>
                <a:effectLst/>
                <a:latin typeface="Arial" charset="0"/>
                <a:ea typeface="+mn-ea"/>
                <a:cs typeface="+mn-cs"/>
              </a:rPr>
              <a:t>Refer to the "Guidewire Platform Support Matrix" for the latest and most complete information about the software Guidewire supports. You can access it from the customer portal by navigating to </a:t>
            </a:r>
            <a:r>
              <a:rPr lang="en-US" sz="1000" u="sng" kern="1200" dirty="0">
                <a:solidFill>
                  <a:schemeClr val="tx1"/>
                </a:solidFill>
                <a:effectLst/>
                <a:latin typeface="Arial" charset="0"/>
                <a:ea typeface="+mn-ea"/>
                <a:cs typeface="+mn-cs"/>
                <a:hlinkClick r:id="rId3"/>
              </a:rPr>
              <a:t>http://guidewire.hivelive.com/pages/home</a:t>
            </a:r>
            <a:r>
              <a:rPr lang="en-US" sz="1000" kern="1200" dirty="0">
                <a:solidFill>
                  <a:schemeClr val="tx1"/>
                </a:solidFill>
                <a:effectLst/>
                <a:latin typeface="Arial" charset="0"/>
                <a:ea typeface="+mn-ea"/>
                <a:cs typeface="+mn-cs"/>
              </a:rPr>
              <a:t>, selecting "Resources -&gt; Documentation", and clicking "Platform Matrix".</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32</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32</a:t>
            </a:fld>
            <a:endParaRPr lang="en-US" altLang="en-US" sz="1200" b="0" dirty="0">
              <a:solidFill>
                <a:schemeClr val="tx1"/>
              </a:solidFill>
            </a:endParaRPr>
          </a:p>
        </p:txBody>
      </p:sp>
    </p:spTree>
    <p:extLst>
      <p:ext uri="{BB962C8B-B14F-4D97-AF65-F5344CB8AC3E}">
        <p14:creationId xmlns:p14="http://schemas.microsoft.com/office/powerpoint/2010/main" val="5555454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endParaRPr lang="en-US" baseline="0" dirty="0"/>
          </a:p>
        </p:txBody>
      </p:sp>
      <p:sp>
        <p:nvSpPr>
          <p:cNvPr id="4" name="Header Placeholder 3"/>
          <p:cNvSpPr>
            <a:spLocks noGrp="1"/>
          </p:cNvSpPr>
          <p:nvPr>
            <p:ph type="hdr" sz="quarter" idx="10"/>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5" name="Slide Number Placeholder 4"/>
          <p:cNvSpPr>
            <a:spLocks noGrp="1"/>
          </p:cNvSpPr>
          <p:nvPr>
            <p:ph type="sldNum" sz="quarter" idx="11"/>
          </p:nvPr>
        </p:nvSpPr>
        <p:spPr/>
        <p:txBody>
          <a:bodyPr/>
          <a:lstStyle/>
          <a:p>
            <a:pPr>
              <a:buClr>
                <a:prstClr val="black"/>
              </a:buClr>
              <a:defRPr/>
            </a:pPr>
            <a:r>
              <a:rPr lang="en-US" altLang="en-US" dirty="0">
                <a:solidFill>
                  <a:prstClr val="white"/>
                </a:solidFill>
              </a:rPr>
              <a:t>	BillingCenter Overview - </a:t>
            </a:r>
            <a:fld id="{9796CD3D-D736-4F93-B740-57C3DF9FA3FF}" type="slidenum">
              <a:rPr lang="en-US" altLang="en-US" smtClean="0">
                <a:solidFill>
                  <a:prstClr val="white"/>
                </a:solidFill>
              </a:rPr>
              <a:pPr>
                <a:buClr>
                  <a:prstClr val="black"/>
                </a:buClr>
                <a:defRPr/>
              </a:pPr>
              <a:t>33</a:t>
            </a:fld>
            <a:endParaRPr lang="en-US" altLang="en-US" dirty="0">
              <a:solidFill>
                <a:prstClr val="white"/>
              </a:solidFill>
            </a:endParaRPr>
          </a:p>
        </p:txBody>
      </p:sp>
      <p:sp>
        <p:nvSpPr>
          <p:cNvPr id="6" name="Copyright"/>
          <p:cNvSpPr txBox="1">
            <a:spLocks noChangeArrowheads="1"/>
          </p:cNvSpPr>
          <p:nvPr/>
        </p:nvSpPr>
        <p:spPr bwMode="auto">
          <a:xfrm>
            <a:off x="471675" y="8913900"/>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2000" b="1" kern="1200">
                <a:solidFill>
                  <a:srgbClr val="FF0000"/>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2000" b="1" kern="1200">
                <a:solidFill>
                  <a:srgbClr val="FF0000"/>
                </a:solidFill>
                <a:latin typeface="Arial" charset="0"/>
                <a:ea typeface="+mn-ea"/>
                <a:cs typeface="+mn-cs"/>
              </a:defRPr>
            </a:lvl9pPr>
          </a:lstStyle>
          <a:p>
            <a:pPr eaLnBrk="1" hangingPunct="1"/>
            <a:r>
              <a:rPr lang="en-US" altLang="en-US" sz="1200" b="0">
                <a:solidFill>
                  <a:schemeClr val="tx1"/>
                </a:solidFill>
              </a:rPr>
              <a:t>	PolicyCenter Overview - </a:t>
            </a:r>
            <a:fld id="{9DE49817-36A5-4BB3-AA2D-7D98501A418F}" type="slidenum">
              <a:rPr lang="en-US" altLang="en-US" sz="1200" b="0" smtClean="0">
                <a:solidFill>
                  <a:schemeClr val="tx1"/>
                </a:solidFill>
              </a:rPr>
              <a:pPr eaLnBrk="1" hangingPunct="1"/>
              <a:t>33</a:t>
            </a:fld>
            <a:endParaRPr lang="en-US" altLang="en-US" sz="1200" b="0" dirty="0">
              <a:solidFill>
                <a:schemeClr val="tx1"/>
              </a:solidFill>
            </a:endParaRPr>
          </a:p>
        </p:txBody>
      </p:sp>
    </p:spTree>
    <p:extLst>
      <p:ext uri="{BB962C8B-B14F-4D97-AF65-F5344CB8AC3E}">
        <p14:creationId xmlns:p14="http://schemas.microsoft.com/office/powerpoint/2010/main" val="18693301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PolicyCenter Overview - </a:t>
            </a:r>
            <a:fld id="{B87EB1BB-ACB0-4308-851A-35F19A066D39}" type="slidenum">
              <a:rPr lang="en-US" altLang="en-US" sz="1200" b="0">
                <a:solidFill>
                  <a:schemeClr val="tx1"/>
                </a:solidFill>
              </a:rPr>
              <a:pPr algn="l" eaLnBrk="1" hangingPunct="1">
                <a:spcBef>
                  <a:spcPct val="0"/>
                </a:spcBef>
                <a:spcAft>
                  <a:spcPct val="0"/>
                </a:spcAft>
                <a:buClrTx/>
              </a:pPr>
              <a:t>34</a:t>
            </a:fld>
            <a:endParaRPr lang="en-US" altLang="en-US" sz="1200" b="0" dirty="0">
              <a:solidFill>
                <a:schemeClr val="tx1"/>
              </a:solidFill>
            </a:endParaRPr>
          </a:p>
        </p:txBody>
      </p:sp>
      <p:sp>
        <p:nvSpPr>
          <p:cNvPr id="36867"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1026010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96259CC-ACD3-480A-93B3-7937E50CF784}"/>
              </a:ext>
            </a:extLst>
          </p:cNvPr>
          <p:cNvSpPr>
            <a:spLocks noGrp="1"/>
          </p:cNvSpPr>
          <p:nvPr>
            <p:ph type="body" idx="1"/>
          </p:nvPr>
        </p:nvSpPr>
        <p:spPr/>
        <p:txBody>
          <a:bodyPr/>
          <a:lstStyle/>
          <a:p>
            <a:r>
              <a:rPr lang="en-US" dirty="0"/>
              <a:t>The Application Server implements Java EE Technology which defines the standard for multitier enterprise applications. The Java EE platform simplifies enterprise applications by basing them on standardized, modular components, by providing a complete set of services to those components, and by handling many details of application behavior automatically, without complex programming</a:t>
            </a:r>
          </a:p>
        </p:txBody>
      </p:sp>
    </p:spTree>
    <p:extLst>
      <p:ext uri="{BB962C8B-B14F-4D97-AF65-F5344CB8AC3E}">
        <p14:creationId xmlns:p14="http://schemas.microsoft.com/office/powerpoint/2010/main" val="22010713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96259CC-ACD3-480A-93B3-7937E50CF784}"/>
              </a:ext>
            </a:extLst>
          </p:cNvPr>
          <p:cNvSpPr>
            <a:spLocks noGrp="1"/>
          </p:cNvSpPr>
          <p:nvPr>
            <p:ph type="body" idx="1"/>
          </p:nvPr>
        </p:nvSpPr>
        <p:spPr/>
        <p:txBody>
          <a:bodyPr/>
          <a:lstStyle/>
          <a:p>
            <a:pPr marL="171450" indent="-171450">
              <a:buFont typeface="Arial" panose="020B0604020202020204" pitchFamily="34" charset="0"/>
              <a:buChar char="•"/>
            </a:pPr>
            <a:r>
              <a:rPr lang="en-US" dirty="0"/>
              <a:t>GW supports REST and SOAP </a:t>
            </a:r>
          </a:p>
          <a:p>
            <a:pPr marL="171450" indent="-171450">
              <a:buFont typeface="Arial" panose="020B0604020202020204" pitchFamily="34" charset="0"/>
              <a:buChar char="•"/>
            </a:pPr>
            <a:r>
              <a:rPr lang="en-US" dirty="0"/>
              <a:t>Common Messaging technologies: JMS and IBM’s MQSeries</a:t>
            </a:r>
          </a:p>
          <a:p>
            <a:pPr marL="171450" indent="-171450">
              <a:buFont typeface="Arial" panose="020B0604020202020204" pitchFamily="34" charset="0"/>
              <a:buChar char="•"/>
            </a:pPr>
            <a:r>
              <a:rPr lang="en-US" dirty="0"/>
              <a:t>Predefined Plugins – Used to implement customizable behavior for predefined points in application</a:t>
            </a:r>
          </a:p>
          <a:p>
            <a:pPr marL="171450" indent="-171450">
              <a:buFont typeface="Arial" panose="020B0604020202020204" pitchFamily="34" charset="0"/>
              <a:buChar char="•"/>
            </a:pPr>
            <a:r>
              <a:rPr lang="en-US" dirty="0"/>
              <a:t>Messaging Plugins – used to send messages to external systems and process the resulting replies</a:t>
            </a:r>
          </a:p>
          <a:p>
            <a:pPr marL="171450" indent="-171450">
              <a:buFont typeface="Arial" panose="020B0604020202020204" pitchFamily="34" charset="0"/>
              <a:buChar char="•"/>
            </a:pPr>
            <a:r>
              <a:rPr lang="en-US" dirty="0" err="1"/>
              <a:t>Startable</a:t>
            </a:r>
            <a:r>
              <a:rPr lang="en-US" dirty="0"/>
              <a:t> Plugins – Used to listen for incoming messages from external systems and process them asynchronously</a:t>
            </a:r>
          </a:p>
        </p:txBody>
      </p:sp>
    </p:spTree>
    <p:extLst>
      <p:ext uri="{BB962C8B-B14F-4D97-AF65-F5344CB8AC3E}">
        <p14:creationId xmlns:p14="http://schemas.microsoft.com/office/powerpoint/2010/main" val="27067236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96259CC-ACD3-480A-93B3-7937E50CF784}"/>
              </a:ext>
            </a:extLst>
          </p:cNvPr>
          <p:cNvSpPr>
            <a:spLocks noGrp="1"/>
          </p:cNvSpPr>
          <p:nvPr>
            <p:ph type="body" idx="1"/>
          </p:nvPr>
        </p:nvSpPr>
        <p:spPr/>
        <p:txBody>
          <a:bodyPr/>
          <a:lstStyle/>
          <a:p>
            <a:pPr marL="171450" indent="-171450">
              <a:buFont typeface="Arial" panose="020B0604020202020204" pitchFamily="34" charset="0"/>
              <a:buChar char="•"/>
            </a:pPr>
            <a:r>
              <a:rPr lang="en-US" dirty="0"/>
              <a:t>Predefined plugins do not typically interact with other systems</a:t>
            </a:r>
          </a:p>
          <a:p>
            <a:pPr marL="171450" indent="-171450">
              <a:buFont typeface="Arial" panose="020B0604020202020204" pitchFamily="34" charset="0"/>
              <a:buChar char="•"/>
            </a:pPr>
            <a:r>
              <a:rPr lang="en-US" dirty="0"/>
              <a:t>Batch process can be initiated by scheduler or by a web service call. So, technically they are both inbound or outbound</a:t>
            </a:r>
          </a:p>
        </p:txBody>
      </p:sp>
    </p:spTree>
    <p:extLst>
      <p:ext uri="{BB962C8B-B14F-4D97-AF65-F5344CB8AC3E}">
        <p14:creationId xmlns:p14="http://schemas.microsoft.com/office/powerpoint/2010/main" val="22754540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0343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06520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24110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buClr>
                <a:prstClr val="black"/>
              </a:buClr>
            </a:pPr>
            <a:r>
              <a:rPr lang="en-US" altLang="en-US" sz="1200" b="0" dirty="0">
                <a:solidFill>
                  <a:prstClr val="black"/>
                </a:solidFill>
              </a:rPr>
              <a:t>	PolicyCenter Overview - </a:t>
            </a:r>
            <a:fld id="{DDD81355-594F-4A6F-8033-C1401041734A}" type="slidenum">
              <a:rPr lang="en-US" altLang="en-US" sz="1200" b="0" smtClean="0">
                <a:solidFill>
                  <a:prstClr val="black"/>
                </a:solidFill>
              </a:rPr>
              <a:pPr eaLnBrk="1" hangingPunct="1">
                <a:buClr>
                  <a:prstClr val="black"/>
                </a:buClr>
              </a:pPr>
              <a:t>41</a:t>
            </a:fld>
            <a:endParaRPr lang="en-US" altLang="en-US" sz="1200" b="0" dirty="0">
              <a:solidFill>
                <a:prstClr val="black"/>
              </a:solidFill>
            </a:endParaRPr>
          </a:p>
        </p:txBody>
      </p:sp>
      <p:sp>
        <p:nvSpPr>
          <p:cNvPr id="5120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buClr>
                <a:prstClr val="black"/>
              </a:buClr>
            </a:pPr>
            <a:r>
              <a:rPr lang="en-US" altLang="en-US" sz="1200" b="0">
                <a:solidFill>
                  <a:prstClr val="black"/>
                </a:solidFill>
              </a:rPr>
              <a:t>	</a:t>
            </a:r>
            <a:endParaRPr lang="en-US" sz="1200" b="0">
              <a:solidFill>
                <a:prstClr val="black"/>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definition for each integration point appears below:</a:t>
            </a:r>
          </a:p>
          <a:p>
            <a:pPr lvl="1" eaLnBrk="1" hangingPunct="1"/>
            <a:r>
              <a:rPr lang="en-US" dirty="0"/>
              <a:t>Legacy policy administration system - This external system maintains policies created prior to the implementation of PolicyCenter (or policies for which PolicyCenter is not the system of record but for which PolicyCenter needs information).</a:t>
            </a:r>
          </a:p>
          <a:p>
            <a:pPr lvl="1" eaLnBrk="1" hangingPunct="1"/>
            <a:r>
              <a:rPr lang="en-US" dirty="0"/>
              <a:t>Document production system - This is an external system used to store document templates and create documents.</a:t>
            </a:r>
          </a:p>
          <a:p>
            <a:pPr lvl="1" eaLnBrk="1" hangingPunct="1"/>
            <a:r>
              <a:rPr lang="en-US" dirty="0"/>
              <a:t>Document storage system - This is an external document storage system which is used for storage and document retrieval.</a:t>
            </a:r>
          </a:p>
          <a:p>
            <a:pPr lvl="1" eaLnBrk="1" hangingPunct="1"/>
            <a:r>
              <a:rPr lang="en-US" dirty="0"/>
              <a:t>Billing system - This is an external billing system which sends bills to the insured (so that they pay the premium) and reports when accounts are overdue.</a:t>
            </a:r>
          </a:p>
          <a:p>
            <a:pPr lvl="1" eaLnBrk="1" hangingPunct="1"/>
            <a:r>
              <a:rPr lang="en-US" dirty="0"/>
              <a:t>ISO - (This integration point is common only for American carriers.) This is an American company which maintains rating information for fire protection for every place</a:t>
            </a:r>
            <a:r>
              <a:rPr lang="en-US" i="1" dirty="0"/>
              <a:t> </a:t>
            </a:r>
            <a:r>
              <a:rPr lang="en-US" dirty="0"/>
              <a:t>in the United States. A city can have many fire protection classes, therefore the information is defined at the location/address level. ISO also maintains Building Code Effectiveness grades of how well any community enforces their building codes. This is used for fire, EQ and wind/storm rating.</a:t>
            </a:r>
          </a:p>
          <a:p>
            <a:pPr lvl="1" eaLnBrk="1" hangingPunct="1"/>
            <a:r>
              <a:rPr lang="en-US" dirty="0"/>
              <a:t>Credit rating system - This is a system which maintains credit rating information about the insured, such as Dun and Bradstreet. </a:t>
            </a:r>
          </a:p>
          <a:p>
            <a:pPr lvl="1" eaLnBrk="1" hangingPunct="1"/>
            <a:r>
              <a:rPr lang="en-US" dirty="0"/>
              <a:t>Claims system - This is the system that managed claims for the carrier and is relevant at renewal time to determine if the policy should be renewed and if the rates should be raised.</a:t>
            </a:r>
          </a:p>
          <a:p>
            <a:pPr lvl="1" algn="ctr" eaLnBrk="1" hangingPunct="1">
              <a:buFontTx/>
              <a:buNone/>
            </a:pPr>
            <a:r>
              <a:rPr lang="en-US" dirty="0"/>
              <a:t>(continued)</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buClr>
                <a:prstClr val="black"/>
              </a:buClr>
              <a:defRPr/>
            </a:pPr>
            <a:r>
              <a:rPr lang="en-US" altLang="en-US">
                <a:solidFill>
                  <a:prstClr val="white"/>
                </a:solidFill>
              </a:rPr>
              <a:t>	Notices - </a:t>
            </a:r>
            <a:fld id="{211C349A-83C9-44D0-A356-DBEB3FC715FC}" type="slidenum">
              <a:rPr lang="en-US" altLang="en-US" smtClean="0">
                <a:solidFill>
                  <a:prstClr val="white"/>
                </a:solidFill>
              </a:rPr>
              <a:pPr>
                <a:buClr>
                  <a:prstClr val="black"/>
                </a:buClr>
                <a:defRPr/>
              </a:pPr>
              <a:t>42</a:t>
            </a:fld>
            <a:endParaRPr lang="en-US" altLang="en-US" dirty="0">
              <a:solidFill>
                <a:prstClr val="white"/>
              </a:solidFill>
            </a:endParaRPr>
          </a:p>
        </p:txBody>
      </p:sp>
      <p:sp>
        <p:nvSpPr>
          <p:cNvPr id="100355" name="SectionName"/>
          <p:cNvSpPr>
            <a:spLocks noGrp="1" noChangeArrowheads="1"/>
          </p:cNvSpPr>
          <p:nvPr>
            <p:ph type="hdr" sz="quarter"/>
          </p:nvPr>
        </p:nvSpPr>
        <p:spPr/>
        <p:txBody>
          <a:bodyPr/>
          <a:lstStyle/>
          <a:p>
            <a:pPr>
              <a:buClr>
                <a:prstClr val="black"/>
              </a:buClr>
              <a:defRPr/>
            </a:pPr>
            <a:r>
              <a:rPr lang="en-US" altLang="en-US">
                <a:solidFill>
                  <a:prstClr val="white"/>
                </a:solidFill>
              </a:rPr>
              <a:t>	</a:t>
            </a:r>
            <a:endParaRPr lang="en-US">
              <a:solidFill>
                <a:prstClr val="white"/>
              </a:solidFill>
            </a:endParaRPr>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
        <p:nvSpPr>
          <p:cNvPr id="6" name="Copyright"/>
          <p:cNvSpPr txBox="1">
            <a:spLocks noChangeArrowheads="1"/>
          </p:cNvSpPr>
          <p:nvPr/>
        </p:nvSpPr>
        <p:spPr bwMode="auto">
          <a:xfrm>
            <a:off x="462050" y="8927306"/>
            <a:ext cx="5951538" cy="261938"/>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177" tIns="46589" rIns="93177" bIns="46589" numCol="1" anchor="b" anchorCtr="0" compatLnSpc="1">
            <a:prstTxWarp prst="textNoShape">
              <a:avLst/>
            </a:prstTxWarp>
          </a:bodyPr>
          <a:lstStyle>
            <a:defPPr>
              <a:defRPr lang="en-US"/>
            </a:defPPr>
            <a:lvl1pPr algn="l" defTabSz="931863" rtl="0" eaLnBrk="0" fontAlgn="base" hangingPunct="0">
              <a:spcBef>
                <a:spcPct val="0"/>
              </a:spcBef>
              <a:spcAft>
                <a:spcPct val="0"/>
              </a:spcAft>
              <a:buClrTx/>
              <a:tabLst>
                <a:tab pos="2743200" algn="ctr"/>
              </a:tabLst>
              <a:defRPr sz="1400" b="0" kern="1200">
                <a:solidFill>
                  <a:schemeClr val="bg1"/>
                </a:solidFill>
                <a:latin typeface="Arial" charset="0"/>
                <a:ea typeface="+mn-ea"/>
                <a:cs typeface="+mn-cs"/>
              </a:defRPr>
            </a:lvl1pPr>
            <a:lvl2pPr marL="742950" indent="-285750" algn="ctr" defTabSz="931863" rtl="0" eaLnBrk="0" fontAlgn="base"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2pPr>
            <a:lvl3pPr marL="1143000" indent="-228600" algn="ctr" defTabSz="931863" rtl="0" eaLnBrk="0" fontAlgn="base"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3pPr>
            <a:lvl4pPr marL="1600200" indent="-228600" algn="ctr" defTabSz="931863" rtl="0" eaLnBrk="0" fontAlgn="base"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4pPr>
            <a:lvl5pPr marL="2057400" indent="-228600" algn="ctr" defTabSz="931863" rtl="0" eaLnBrk="0" fontAlgn="base"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5pPr>
            <a:lvl6pPr marL="2514600" indent="-228600" algn="ctr" defTabSz="931863" rtl="0" eaLnBrk="0" fontAlgn="base" latinLnBrk="0"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6pPr>
            <a:lvl7pPr marL="2971800" indent="-228600" algn="ctr" defTabSz="931863" rtl="0" eaLnBrk="0" fontAlgn="base" latinLnBrk="0"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7pPr>
            <a:lvl8pPr marL="3429000" indent="-228600" algn="ctr" defTabSz="931863" rtl="0" eaLnBrk="0" fontAlgn="base" latinLnBrk="0"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8pPr>
            <a:lvl9pPr marL="3886200" indent="-228600" algn="ctr" defTabSz="931863" rtl="0" eaLnBrk="0" fontAlgn="base" latinLnBrk="0" hangingPunct="0">
              <a:spcBef>
                <a:spcPct val="50000"/>
              </a:spcBef>
              <a:spcAft>
                <a:spcPct val="30000"/>
              </a:spcAft>
              <a:buClr>
                <a:schemeClr val="tx1"/>
              </a:buClr>
              <a:tabLst>
                <a:tab pos="2743200" algn="ctr"/>
              </a:tabLst>
              <a:defRPr sz="1400" b="1" kern="1200">
                <a:solidFill>
                  <a:schemeClr val="bg1"/>
                </a:solidFill>
                <a:latin typeface="Arial" charset="0"/>
                <a:ea typeface="+mn-ea"/>
                <a:cs typeface="+mn-cs"/>
              </a:defRPr>
            </a:lvl9pPr>
          </a:lstStyle>
          <a:p>
            <a:pPr eaLnBrk="1" hangingPunct="1">
              <a:buClr>
                <a:prstClr val="black"/>
              </a:buClr>
            </a:pPr>
            <a:r>
              <a:rPr lang="en-US" altLang="en-US" sz="1200" dirty="0">
                <a:solidFill>
                  <a:prstClr val="black"/>
                </a:solidFill>
              </a:rPr>
              <a:t>	</a:t>
            </a:r>
            <a:r>
              <a:rPr lang="en-US" altLang="en-US" sz="1200" dirty="0">
                <a:solidFill>
                  <a:schemeClr val="tx1"/>
                </a:solidFill>
              </a:rPr>
              <a:t> PolicyCenter Overview</a:t>
            </a:r>
            <a:r>
              <a:rPr lang="en-US" altLang="en-US" sz="1200" dirty="0">
                <a:solidFill>
                  <a:prstClr val="black"/>
                </a:solidFill>
              </a:rPr>
              <a:t> - </a:t>
            </a:r>
            <a:fld id="{C87AAE7A-16CA-42E3-80E3-815A76B47CA4}" type="slidenum">
              <a:rPr lang="en-US" altLang="en-US" sz="1200" smtClean="0">
                <a:solidFill>
                  <a:prstClr val="black"/>
                </a:solidFill>
              </a:rPr>
              <a:pPr eaLnBrk="1" hangingPunct="1">
                <a:buClr>
                  <a:prstClr val="black"/>
                </a:buClr>
              </a:pPr>
              <a:t>42</a:t>
            </a:fld>
            <a:endParaRPr lang="en-US" altLang="en-US" sz="1200" dirty="0">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100161930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6748196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48505652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376250059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6078507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410819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26387788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94350625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2188694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4252345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31951753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30350903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3865348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23951445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260006867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90182117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9888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92504932"/>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43049704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2886896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069911330"/>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674717052"/>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319287531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85223423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0585853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217705421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049775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087695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222171120"/>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0679725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08409084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46971075"/>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177945300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6637253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p>
            <a:r>
              <a:rPr lang="en-US"/>
              <a:t>Click to edit Master title style</a:t>
            </a:r>
          </a:p>
        </p:txBody>
      </p:sp>
      <p:sp>
        <p:nvSpPr>
          <p:cNvPr id="3" name="Content Placeholder 2"/>
          <p:cNvSpPr>
            <a:spLocks noGrp="1"/>
          </p:cNvSpPr>
          <p:nvPr>
            <p:ph sz="half" idx="1"/>
          </p:nvPr>
        </p:nvSpPr>
        <p:spPr>
          <a:xfrm>
            <a:off x="519113" y="1192213"/>
            <a:ext cx="8318500" cy="2522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19113" y="3867150"/>
            <a:ext cx="8318500" cy="2522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2982118"/>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3257140707"/>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31945893"/>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7853332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419128252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3768767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323313"/>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871901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439863686"/>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849991234"/>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77891345"/>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312826176"/>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766813936"/>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p>
            <a:r>
              <a:rPr lang="en-US"/>
              <a:t>Click to edit Master title style</a:t>
            </a:r>
          </a:p>
        </p:txBody>
      </p:sp>
      <p:sp>
        <p:nvSpPr>
          <p:cNvPr id="3" name="Content Placeholder 2"/>
          <p:cNvSpPr>
            <a:spLocks noGrp="1"/>
          </p:cNvSpPr>
          <p:nvPr>
            <p:ph sz="half" idx="1"/>
          </p:nvPr>
        </p:nvSpPr>
        <p:spPr>
          <a:xfrm>
            <a:off x="519113" y="1192213"/>
            <a:ext cx="8318500" cy="2522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19113" y="3867150"/>
            <a:ext cx="8318500" cy="2522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3166330"/>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2337355504"/>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161173368"/>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212021009"/>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1928789759"/>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75401277"/>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735744"/>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992160069"/>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613238855"/>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921815608"/>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034899486"/>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081975078"/>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960535452"/>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83452238"/>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09928072"/>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495083538"/>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57629878"/>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8411226"/>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637594756"/>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626754263"/>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15374803"/>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35731857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1912586236"/>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920315223"/>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Master title style</a:t>
            </a:r>
            <a:endParaRPr lang="en-US" altLang="en-US" dirty="0"/>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829089824"/>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92966155"/>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26453079"/>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endParaRPr lang="en-US" dirty="0"/>
          </a:p>
        </p:txBody>
      </p:sp>
    </p:spTree>
    <p:extLst>
      <p:ext uri="{BB962C8B-B14F-4D97-AF65-F5344CB8AC3E}">
        <p14:creationId xmlns:p14="http://schemas.microsoft.com/office/powerpoint/2010/main" val="3864781786"/>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48224364"/>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865543"/>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52810907"/>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69838568"/>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86784396"/>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93194470"/>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4085611908"/>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2112238054"/>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167329542"/>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067610882"/>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2441435558"/>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84180288"/>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317084"/>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893346776"/>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582705762"/>
      </p:ext>
    </p:extLst>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50193757"/>
      </p:ext>
    </p:extLst>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28767759"/>
      </p:ext>
    </p:extLst>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32679537"/>
      </p:ext>
    </p:extLst>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20328842"/>
      </p:ext>
    </p:extLst>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3085063147"/>
      </p:ext>
    </p:extLst>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24241134"/>
      </p:ext>
    </p:extLst>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37912984"/>
      </p:ext>
    </p:extLst>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1214375041"/>
      </p:ext>
    </p:extLst>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23740099"/>
      </p:ext>
    </p:extLst>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449102"/>
      </p:ext>
    </p:extLst>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938261199"/>
      </p:ext>
    </p:extLst>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461779479"/>
      </p:ext>
    </p:extLst>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76792484"/>
      </p:ext>
    </p:extLst>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4473436"/>
      </p:ext>
    </p:extLst>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690967292"/>
      </p:ext>
    </p:extLst>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41708910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2.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1.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6" Type="http://schemas.openxmlformats.org/officeDocument/2006/relationships/image" Target="../media/image2.pn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1.pn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image" Target="../media/image1.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image" Target="../media/image2.png"/><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image" Target="../media/image1.png"/><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theme" Target="../theme/theme7.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theme" Target="../theme/theme8.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5" Type="http://schemas.openxmlformats.org/officeDocument/2006/relationships/image" Target="../media/image2.png"/><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theme" Target="../theme/theme9.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image" Target="../media/image2.png"/><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60F311C7-833B-43AB-9282-A1963E8E1EFA}"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62"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spcAft>
                  <a:spcPct val="0"/>
                </a:spcAft>
                <a:buClrTx/>
              </a:pPr>
              <a:endParaRPr lang="en-US" sz="1600" b="0">
                <a:solidFill>
                  <a:srgbClr val="000000"/>
                </a:solidFill>
                <a:cs typeface="Arial" charset="0"/>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lgn="l">
                <a:spcBef>
                  <a:spcPct val="0"/>
                </a:spcBef>
                <a:spcAft>
                  <a:spcPct val="0"/>
                </a:spcAft>
                <a:buClrTx/>
              </a:pPr>
              <a:endParaRPr lang="en-US">
                <a:cs typeface="Arial"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p:spPr>
        <p:txBody>
          <a:bodyPr lIns="0" tIns="0" rIns="0" bIns="0"/>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nSpc>
                <a:spcPts val="1800"/>
              </a:lnSpc>
              <a:spcBef>
                <a:spcPts val="600"/>
              </a:spcBef>
              <a:spcAft>
                <a:spcPct val="0"/>
              </a:spcAft>
              <a:buClrTx/>
              <a:buFont typeface="Wingdings" pitchFamily="2" charset="2"/>
              <a:buNone/>
              <a:defRPr/>
            </a:pPr>
            <a:fld id="{6A0B009C-47BC-4F0C-8661-376A5E0367AE}" type="slidenum">
              <a:rPr lang="en-US" sz="1200" smtClean="0">
                <a:solidFill>
                  <a:srgbClr val="B2B2B2"/>
                </a:solidFill>
                <a:latin typeface="Calibri" pitchFamily="34" charset="0"/>
                <a:cs typeface="Calibri" pitchFamily="34" charset="0"/>
              </a:rPr>
              <a:pPr>
                <a:lnSpc>
                  <a:spcPts val="1800"/>
                </a:lnSpc>
                <a:spcBef>
                  <a:spcPts val="600"/>
                </a:spcBef>
                <a:spcAft>
                  <a:spcPct val="0"/>
                </a:spcAft>
                <a:buClrTx/>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p:spPr>
        <p:txBody>
          <a:bodyPr wrap="none" lIns="0" tIns="0" rIns="0" bIns="0">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gn="r" eaLnBrk="1" hangingPunct="1">
              <a:spcBef>
                <a:spcPts val="600"/>
              </a:spcBef>
              <a:spcAft>
                <a:spcPct val="0"/>
              </a:spcAft>
              <a:buClr>
                <a:srgbClr val="DADAB3"/>
              </a:buClr>
              <a:buFont typeface="Arial" charset="0"/>
              <a:buNone/>
              <a:defRPr/>
            </a:pPr>
            <a:r>
              <a:rPr lang="en-US" sz="60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3367250433"/>
      </p:ext>
    </p:extLst>
  </p:cSld>
  <p:clrMap bg1="dk2" tx1="lt1" bg2="dk1" tx2="lt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buClr>
                  <a:srgbClr val="FFFFFF"/>
                </a:buClr>
              </a:pPr>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buClr>
                  <a:srgbClr val="FFFFFF"/>
                </a:buClr>
              </a:pPr>
              <a:endParaRPr lang="en-US" sz="1400" b="0">
                <a:solidFill>
                  <a:srgbClr val="000000"/>
                </a:solidFill>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nSpc>
                <a:spcPts val="1800"/>
              </a:lnSpc>
              <a:spcBef>
                <a:spcPts val="600"/>
              </a:spcBef>
              <a:buClr>
                <a:srgbClr val="FFFFFF"/>
              </a:buClr>
              <a:buFont typeface="Wingdings" pitchFamily="2" charset="2"/>
              <a:buNone/>
            </a:pPr>
            <a:fld id="{E1E01C8D-5B39-4DB4-93F5-12D8456894BA}" type="slidenum">
              <a:rPr lang="en-US" sz="1200" b="0" smtClean="0">
                <a:solidFill>
                  <a:srgbClr val="B2B2B2"/>
                </a:solidFill>
                <a:latin typeface="Calibri" pitchFamily="34" charset="0"/>
                <a:ea typeface="Calibri" pitchFamily="34" charset="0"/>
                <a:cs typeface="Calibri" pitchFamily="34" charset="0"/>
              </a:rPr>
              <a:pPr>
                <a:lnSpc>
                  <a:spcPts val="1800"/>
                </a:lnSpc>
                <a:spcBef>
                  <a:spcPts val="600"/>
                </a:spcBef>
                <a:buClr>
                  <a:srgbClr val="FFFFFF"/>
                </a:buClr>
                <a:buFont typeface="Wingdings" pitchFamily="2" charset="2"/>
                <a:buNone/>
              </a:pPr>
              <a:t>‹#›</a:t>
            </a:fld>
            <a:r>
              <a:rPr lang="en-US" sz="1800" b="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spcBef>
                <a:spcPts val="600"/>
              </a:spcBef>
              <a:buClr>
                <a:srgbClr val="DADAB3"/>
              </a:buClr>
              <a:buFont typeface="Arial" charset="0"/>
              <a:buNone/>
            </a:pPr>
            <a:r>
              <a:rPr lang="en-US" sz="600" b="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2707263703"/>
      </p:ext>
    </p:extLst>
  </p:cSld>
  <p:clrMap bg1="dk2" tx1="lt1" bg2="dk1" tx2="lt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buClr>
                  <a:srgbClr val="FFFFFF"/>
                </a:buClr>
              </a:pPr>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buClr>
                  <a:srgbClr val="FFFFFF"/>
                </a:buClr>
              </a:pPr>
              <a:endParaRPr lang="en-US" sz="1400" b="0">
                <a:solidFill>
                  <a:srgbClr val="000000"/>
                </a:solidFill>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nSpc>
                <a:spcPts val="1800"/>
              </a:lnSpc>
              <a:spcBef>
                <a:spcPts val="600"/>
              </a:spcBef>
              <a:buClr>
                <a:srgbClr val="FFFFFF"/>
              </a:buClr>
              <a:buFont typeface="Wingdings" pitchFamily="2" charset="2"/>
              <a:buNone/>
            </a:pPr>
            <a:fld id="{E1E01C8D-5B39-4DB4-93F5-12D8456894BA}" type="slidenum">
              <a:rPr lang="en-US" sz="1200" b="0" smtClean="0">
                <a:solidFill>
                  <a:srgbClr val="B2B2B2"/>
                </a:solidFill>
                <a:latin typeface="Calibri" pitchFamily="34" charset="0"/>
                <a:ea typeface="Calibri" pitchFamily="34" charset="0"/>
                <a:cs typeface="Calibri" pitchFamily="34" charset="0"/>
              </a:rPr>
              <a:pPr>
                <a:lnSpc>
                  <a:spcPts val="1800"/>
                </a:lnSpc>
                <a:spcBef>
                  <a:spcPts val="600"/>
                </a:spcBef>
                <a:buClr>
                  <a:srgbClr val="FFFFFF"/>
                </a:buClr>
                <a:buFont typeface="Wingdings" pitchFamily="2" charset="2"/>
                <a:buNone/>
              </a:pPr>
              <a:t>‹#›</a:t>
            </a:fld>
            <a:r>
              <a:rPr lang="en-US" sz="1800" b="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spcBef>
                <a:spcPts val="600"/>
              </a:spcBef>
              <a:buClr>
                <a:srgbClr val="DADAB3"/>
              </a:buClr>
              <a:buFont typeface="Arial" charset="0"/>
              <a:buNone/>
            </a:pPr>
            <a:r>
              <a:rPr lang="en-US" sz="600" b="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208887919"/>
      </p:ext>
    </p:extLst>
  </p:cSld>
  <p:clrMap bg1="dk2" tx1="lt1" bg2="dk1" tx2="lt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buClr>
                  <a:srgbClr val="FFFFFF"/>
                </a:buClr>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buClr>
                  <a:srgbClr val="FFFFFF"/>
                </a:buCl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Clr>
                <a:srgbClr val="FFFFFF"/>
              </a:buClr>
              <a:buFont typeface="Wingdings" pitchFamily="2" charset="2"/>
              <a:buNone/>
              <a:defRPr/>
            </a:pPr>
            <a:fld id="{60F311C7-833B-43AB-9282-A1963E8E1EFA}" type="slidenum">
              <a:rPr lang="en-US" sz="1200">
                <a:solidFill>
                  <a:srgbClr val="B2B2B2"/>
                </a:solidFill>
                <a:latin typeface="Calibri" pitchFamily="34" charset="0"/>
                <a:cs typeface="Calibri" pitchFamily="34" charset="0"/>
              </a:rPr>
              <a:pPr eaLnBrk="0" hangingPunct="0">
                <a:lnSpc>
                  <a:spcPts val="1800"/>
                </a:lnSpc>
                <a:spcBef>
                  <a:spcPts val="600"/>
                </a:spcBef>
                <a:buClr>
                  <a:srgbClr val="FFFFFF"/>
                </a:buClr>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rgbClr val="DADAB3"/>
              </a:buClr>
              <a:buFont typeface="Arial" charset="0"/>
              <a:buNone/>
              <a:defRPr/>
            </a:pPr>
            <a:r>
              <a:rPr lang="en-US" sz="600" dirty="0">
                <a:solidFill>
                  <a:srgbClr val="B2B2B2"/>
                </a:solidFill>
                <a:latin typeface="Arial"/>
              </a:rPr>
              <a:t>© Guidewire Software, Inc. All rights reserved. Do not distribute without permission.</a:t>
            </a:r>
          </a:p>
        </p:txBody>
      </p:sp>
    </p:spTree>
    <p:extLst>
      <p:ext uri="{BB962C8B-B14F-4D97-AF65-F5344CB8AC3E}">
        <p14:creationId xmlns:p14="http://schemas.microsoft.com/office/powerpoint/2010/main" val="2619118746"/>
      </p:ext>
    </p:extLst>
  </p:cSld>
  <p:clrMap bg1="dk2" tx1="lt1" bg2="dk1" tx2="lt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buClr>
                  <a:srgbClr val="FFFFFF"/>
                </a:buClr>
              </a:pPr>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buClr>
                  <a:srgbClr val="FFFFFF"/>
                </a:buClr>
              </a:pPr>
              <a:endParaRPr lang="en-US" sz="1400" b="0">
                <a:solidFill>
                  <a:srgbClr val="000000"/>
                </a:solidFill>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nSpc>
                <a:spcPts val="1800"/>
              </a:lnSpc>
              <a:spcBef>
                <a:spcPts val="600"/>
              </a:spcBef>
              <a:buClr>
                <a:srgbClr val="FFFFFF"/>
              </a:buClr>
              <a:buFont typeface="Wingdings" pitchFamily="2" charset="2"/>
              <a:buNone/>
            </a:pPr>
            <a:fld id="{6DAF3D0A-5E61-49CD-BB88-9E021525CE97}" type="slidenum">
              <a:rPr lang="en-US" sz="1200" b="0">
                <a:solidFill>
                  <a:srgbClr val="B2B2B2"/>
                </a:solidFill>
                <a:latin typeface="Calibri" pitchFamily="34" charset="0"/>
                <a:ea typeface="Calibri" pitchFamily="34" charset="0"/>
                <a:cs typeface="Calibri" pitchFamily="34" charset="0"/>
              </a:rPr>
              <a:pPr>
                <a:lnSpc>
                  <a:spcPts val="1800"/>
                </a:lnSpc>
                <a:spcBef>
                  <a:spcPts val="600"/>
                </a:spcBef>
                <a:buClr>
                  <a:srgbClr val="FFFFFF"/>
                </a:buClr>
                <a:buFont typeface="Wingdings" pitchFamily="2" charset="2"/>
                <a:buNone/>
              </a:pPr>
              <a:t>‹#›</a:t>
            </a:fld>
            <a:r>
              <a:rPr lang="en-US" sz="1800" b="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spcBef>
                <a:spcPts val="600"/>
              </a:spcBef>
              <a:buClr>
                <a:srgbClr val="DADAB3"/>
              </a:buClr>
              <a:buFont typeface="Arial" charset="0"/>
              <a:buNone/>
            </a:pPr>
            <a:r>
              <a:rPr lang="en-US" sz="600" b="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614671632"/>
      </p:ext>
    </p:extLst>
  </p:cSld>
  <p:clrMap bg1="dk2" tx1="lt1" bg2="dk1" tx2="lt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spcAft>
                  <a:spcPct val="0"/>
                </a:spcAft>
                <a:buClrTx/>
              </a:pPr>
              <a:endParaRPr lang="en-US" sz="1600" b="0">
                <a:solidFill>
                  <a:srgbClr val="000000"/>
                </a:solidFill>
                <a:cs typeface="Arial" charset="0"/>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lgn="l">
                <a:spcBef>
                  <a:spcPct val="0"/>
                </a:spcBef>
                <a:spcAft>
                  <a:spcPct val="0"/>
                </a:spcAft>
                <a:buClrTx/>
              </a:pPr>
              <a:endParaRPr lang="en-US">
                <a:cs typeface="Arial"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p:spPr>
        <p:txBody>
          <a:bodyPr lIns="0" tIns="0" rIns="0" bIns="0"/>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nSpc>
                <a:spcPts val="1800"/>
              </a:lnSpc>
              <a:spcBef>
                <a:spcPts val="600"/>
              </a:spcBef>
              <a:spcAft>
                <a:spcPct val="0"/>
              </a:spcAft>
              <a:buClrTx/>
              <a:buFont typeface="Wingdings" pitchFamily="2" charset="2"/>
              <a:buNone/>
              <a:defRPr/>
            </a:pPr>
            <a:fld id="{A0A397C9-4711-4B58-9DB2-782F6832F4B7}" type="slidenum">
              <a:rPr lang="en-US" sz="1200" smtClean="0">
                <a:solidFill>
                  <a:srgbClr val="B2B2B2"/>
                </a:solidFill>
                <a:latin typeface="Calibri" pitchFamily="34" charset="0"/>
                <a:cs typeface="Calibri" pitchFamily="34" charset="0"/>
              </a:rPr>
              <a:pPr>
                <a:lnSpc>
                  <a:spcPts val="1800"/>
                </a:lnSpc>
                <a:spcBef>
                  <a:spcPts val="600"/>
                </a:spcBef>
                <a:spcAft>
                  <a:spcPct val="0"/>
                </a:spcAft>
                <a:buClrTx/>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p:nvSpPr>
        <p:spPr bwMode="auto">
          <a:xfrm>
            <a:off x="560388" y="6570663"/>
            <a:ext cx="2647950" cy="93662"/>
          </a:xfrm>
          <a:prstGeom prst="rect">
            <a:avLst/>
          </a:prstGeom>
          <a:noFill/>
          <a:ln>
            <a:noFill/>
          </a:ln>
        </p:spPr>
        <p:txBody>
          <a:bodyPr wrap="none" lIns="0" tIns="0" rIns="0" bIns="0">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algn="r" eaLnBrk="1" hangingPunct="1">
              <a:spcBef>
                <a:spcPts val="600"/>
              </a:spcBef>
              <a:spcAft>
                <a:spcPct val="0"/>
              </a:spcAft>
              <a:buClr>
                <a:srgbClr val="DADAB3"/>
              </a:buClr>
              <a:buFont typeface="Arial" charset="0"/>
              <a:buNone/>
              <a:defRPr/>
            </a:pPr>
            <a:r>
              <a:rPr lang="en-US" sz="60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4003926570"/>
      </p:ext>
    </p:extLst>
  </p:cSld>
  <p:clrMap bg1="dk2" tx1="lt1" bg2="dk1" tx2="lt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buClr>
                  <a:srgbClr val="FFFFFF"/>
                </a:buClr>
              </a:pPr>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buClr>
                  <a:srgbClr val="FFFFFF"/>
                </a:buClr>
              </a:pPr>
              <a:endParaRPr lang="en-US" sz="1400" b="0">
                <a:solidFill>
                  <a:srgbClr val="000000"/>
                </a:solidFill>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nSpc>
                <a:spcPts val="1800"/>
              </a:lnSpc>
              <a:spcBef>
                <a:spcPts val="600"/>
              </a:spcBef>
              <a:buClr>
                <a:srgbClr val="FFFFFF"/>
              </a:buClr>
              <a:buFont typeface="Wingdings" pitchFamily="2" charset="2"/>
              <a:buNone/>
            </a:pPr>
            <a:fld id="{6DAF3D0A-5E61-49CD-BB88-9E021525CE97}" type="slidenum">
              <a:rPr lang="en-US" sz="1200" b="0">
                <a:solidFill>
                  <a:srgbClr val="B2B2B2"/>
                </a:solidFill>
                <a:latin typeface="Calibri" pitchFamily="34" charset="0"/>
                <a:ea typeface="Calibri" pitchFamily="34" charset="0"/>
                <a:cs typeface="Calibri" pitchFamily="34" charset="0"/>
              </a:rPr>
              <a:pPr>
                <a:lnSpc>
                  <a:spcPts val="1800"/>
                </a:lnSpc>
                <a:spcBef>
                  <a:spcPts val="600"/>
                </a:spcBef>
                <a:buClr>
                  <a:srgbClr val="FFFFFF"/>
                </a:buClr>
                <a:buFont typeface="Wingdings" pitchFamily="2" charset="2"/>
                <a:buNone/>
              </a:pPr>
              <a:t>‹#›</a:t>
            </a:fld>
            <a:r>
              <a:rPr lang="en-US" sz="1800" b="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spcBef>
                <a:spcPts val="600"/>
              </a:spcBef>
              <a:buClr>
                <a:srgbClr val="DADAB3"/>
              </a:buClr>
              <a:buFont typeface="Arial" charset="0"/>
              <a:buNone/>
            </a:pPr>
            <a:r>
              <a:rPr lang="en-US" sz="600" b="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584009900"/>
      </p:ext>
    </p:extLst>
  </p:cSld>
  <p:clrMap bg1="dk2" tx1="lt1" bg2="dk1" tx2="lt2" accent1="accent1" accent2="accent2" accent3="accent3" accent4="accent4" accent5="accent5" accent6="accent6" hlink="hlink" folHlink="folHlink"/>
  <p:sldLayoutIdLst>
    <p:sldLayoutId id="2147484020" r:id="rId1"/>
    <p:sldLayoutId id="2147484021" r:id="rId2"/>
    <p:sldLayoutId id="2147484022" r:id="rId3"/>
    <p:sldLayoutId id="2147484023" r:id="rId4"/>
    <p:sldLayoutId id="2147484024" r:id="rId5"/>
    <p:sldLayoutId id="2147484025" r:id="rId6"/>
    <p:sldLayoutId id="2147484026" r:id="rId7"/>
    <p:sldLayoutId id="2147484027" r:id="rId8"/>
    <p:sldLayoutId id="2147484028" r:id="rId9"/>
    <p:sldLayoutId id="2147484029" r:id="rId10"/>
    <p:sldLayoutId id="2147484030" r:id="rId11"/>
    <p:sldLayoutId id="2147484031"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buClr>
                  <a:srgbClr val="FFFFFF"/>
                </a:buClr>
              </a:pPr>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pPr>
                <a:buClr>
                  <a:srgbClr val="FFFFFF"/>
                </a:buClr>
              </a:pPr>
              <a:endParaRPr lang="en-US" sz="1400" b="0">
                <a:solidFill>
                  <a:srgbClr val="000000"/>
                </a:solidFill>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nSpc>
                <a:spcPts val="1800"/>
              </a:lnSpc>
              <a:spcBef>
                <a:spcPts val="600"/>
              </a:spcBef>
              <a:buClr>
                <a:srgbClr val="FFFFFF"/>
              </a:buClr>
              <a:buFont typeface="Wingdings" pitchFamily="2" charset="2"/>
              <a:buNone/>
            </a:pPr>
            <a:fld id="{6DAF3D0A-5E61-49CD-BB88-9E021525CE97}" type="slidenum">
              <a:rPr lang="en-US" sz="1200" b="0">
                <a:solidFill>
                  <a:srgbClr val="B2B2B2"/>
                </a:solidFill>
                <a:latin typeface="Calibri" pitchFamily="34" charset="0"/>
                <a:ea typeface="Calibri" pitchFamily="34" charset="0"/>
                <a:cs typeface="Calibri" pitchFamily="34" charset="0"/>
              </a:rPr>
              <a:pPr>
                <a:lnSpc>
                  <a:spcPts val="1800"/>
                </a:lnSpc>
                <a:spcBef>
                  <a:spcPts val="600"/>
                </a:spcBef>
                <a:buClr>
                  <a:srgbClr val="FFFFFF"/>
                </a:buClr>
                <a:buFont typeface="Wingdings" pitchFamily="2" charset="2"/>
                <a:buNone/>
              </a:pPr>
              <a:t>‹#›</a:t>
            </a:fld>
            <a:r>
              <a:rPr lang="en-US" sz="1800" b="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spcBef>
                <a:spcPts val="600"/>
              </a:spcBef>
              <a:buClr>
                <a:srgbClr val="DADAB3"/>
              </a:buClr>
              <a:buFont typeface="Arial" charset="0"/>
              <a:buNone/>
            </a:pPr>
            <a:r>
              <a:rPr lang="en-US" sz="600" b="0">
                <a:solidFill>
                  <a:srgbClr val="B2B2B2"/>
                </a:solidFill>
              </a:rPr>
              <a:t>© Guidewire Software, Inc. All rights reserved. Do not distribute without permission.</a:t>
            </a:r>
          </a:p>
        </p:txBody>
      </p:sp>
    </p:spTree>
    <p:extLst>
      <p:ext uri="{BB962C8B-B14F-4D97-AF65-F5344CB8AC3E}">
        <p14:creationId xmlns:p14="http://schemas.microsoft.com/office/powerpoint/2010/main" val="1080857339"/>
      </p:ext>
    </p:extLst>
  </p:cSld>
  <p:clrMap bg1="dk2" tx1="lt1" bg2="dk1" tx2="lt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5.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8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8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4.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4.xml"/></Relationships>
</file>

<file path=ppt/slides/_rels/slide3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86.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jpeg"/><Relationship Id="rId9"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1.xml"/><Relationship Id="rId1" Type="http://schemas.openxmlformats.org/officeDocument/2006/relationships/slideLayout" Target="../slideLayouts/slideLayout41.xml"/><Relationship Id="rId5" Type="http://schemas.openxmlformats.org/officeDocument/2006/relationships/image" Target="../media/image30.png"/><Relationship Id="rId4" Type="http://schemas.openxmlformats.org/officeDocument/2006/relationships/image" Target="../media/image29.jpe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8.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84.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8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84.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84.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50.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50.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8788" y="2957513"/>
            <a:ext cx="8348662" cy="457200"/>
          </a:xfrm>
        </p:spPr>
        <p:txBody>
          <a:bodyPr/>
          <a:lstStyle/>
          <a:p>
            <a:pPr eaLnBrk="1" hangingPunct="1"/>
            <a:r>
              <a:rPr lang="en-US" dirty="0"/>
              <a:t>Guidewire Overview</a:t>
            </a:r>
          </a:p>
        </p:txBody>
      </p:sp>
      <p:sp>
        <p:nvSpPr>
          <p:cNvPr id="3075" name="Text Placeholder 4"/>
          <p:cNvSpPr>
            <a:spLocks noGrp="1"/>
          </p:cNvSpPr>
          <p:nvPr>
            <p:ph type="body" sz="quarter" idx="10"/>
          </p:nvPr>
        </p:nvSpPr>
        <p:spPr>
          <a:xfrm>
            <a:off x="5718175" y="6167438"/>
            <a:ext cx="3089275" cy="273050"/>
          </a:xfrm>
        </p:spPr>
        <p:txBody>
          <a:bodyPr/>
          <a:lstStyle/>
          <a:p>
            <a:r>
              <a:rPr lang="en-US" dirty="0"/>
              <a:t>14 July 2022</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t> Lesson objectives</a:t>
            </a:r>
          </a:p>
        </p:txBody>
      </p:sp>
      <p:sp>
        <p:nvSpPr>
          <p:cNvPr id="4099" name="Rectangle 3"/>
          <p:cNvSpPr>
            <a:spLocks noGrp="1" noChangeArrowheads="1"/>
          </p:cNvSpPr>
          <p:nvPr>
            <p:ph idx="1"/>
          </p:nvPr>
        </p:nvSpPr>
        <p:spPr/>
        <p:txBody>
          <a:bodyPr/>
          <a:lstStyle/>
          <a:p>
            <a:pPr>
              <a:buFont typeface="Wingdings 3" pitchFamily="18" charset="2"/>
              <a:buNone/>
            </a:pPr>
            <a:r>
              <a:rPr lang="en-US" dirty="0"/>
              <a:t>This lesson is to provide an overview on:</a:t>
            </a:r>
          </a:p>
          <a:p>
            <a:pPr lvl="1"/>
            <a:r>
              <a:rPr lang="en-US" dirty="0"/>
              <a:t>Guidewire Organization</a:t>
            </a:r>
          </a:p>
          <a:p>
            <a:pPr lvl="1"/>
            <a:r>
              <a:rPr lang="en-US" dirty="0"/>
              <a:t>Guidewire Products</a:t>
            </a:r>
          </a:p>
          <a:p>
            <a:pPr lvl="1"/>
            <a:r>
              <a:rPr lang="en-US" dirty="0"/>
              <a:t>Guidewire Core suite landscape</a:t>
            </a:r>
          </a:p>
          <a:p>
            <a:pPr lvl="1"/>
            <a:r>
              <a:rPr lang="en-US" dirty="0"/>
              <a:t>Typical integrations to Guidewire</a:t>
            </a:r>
          </a:p>
          <a:p>
            <a:pPr lvl="1"/>
            <a:endParaRPr lang="en-US" dirty="0"/>
          </a:p>
        </p:txBody>
      </p:sp>
      <p:sp>
        <p:nvSpPr>
          <p:cNvPr id="4100"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825500" y="120650"/>
            <a:ext cx="8318500" cy="742950"/>
          </a:xfrm>
        </p:spPr>
        <p:txBody>
          <a:bodyPr/>
          <a:lstStyle/>
          <a:p>
            <a:pPr eaLnBrk="1" hangingPunct="1"/>
            <a:r>
              <a:rPr lang="en-US"/>
              <a:t>Lesson outline</a:t>
            </a:r>
          </a:p>
        </p:txBody>
      </p:sp>
      <p:sp>
        <p:nvSpPr>
          <p:cNvPr id="5123" name="Rectangle 3"/>
          <p:cNvSpPr>
            <a:spLocks noGrp="1" noChangeArrowheads="1"/>
          </p:cNvSpPr>
          <p:nvPr>
            <p:ph type="body" idx="4294967295"/>
          </p:nvPr>
        </p:nvSpPr>
        <p:spPr bwMode="gray">
          <a:xfrm>
            <a:off x="482600" y="681038"/>
            <a:ext cx="8318500" cy="5708650"/>
          </a:xfrm>
        </p:spPr>
        <p:txBody>
          <a:bodyPr/>
          <a:lstStyle/>
          <a:p>
            <a:pPr>
              <a:lnSpc>
                <a:spcPct val="150000"/>
              </a:lnSpc>
            </a:pPr>
            <a:r>
              <a:rPr lang="en-US" sz="2800" dirty="0"/>
              <a:t>Guidewire Organization</a:t>
            </a:r>
          </a:p>
          <a:p>
            <a:pPr>
              <a:lnSpc>
                <a:spcPct val="150000"/>
              </a:lnSpc>
            </a:pPr>
            <a:r>
              <a:rPr lang="en-US" sz="2800" dirty="0">
                <a:solidFill>
                  <a:schemeClr val="hlink"/>
                </a:solidFill>
              </a:rPr>
              <a:t>Guidewire Products</a:t>
            </a:r>
          </a:p>
          <a:p>
            <a:pPr>
              <a:lnSpc>
                <a:spcPct val="150000"/>
              </a:lnSpc>
            </a:pPr>
            <a:r>
              <a:rPr lang="en-US" sz="2800" dirty="0">
                <a:solidFill>
                  <a:schemeClr val="hlink"/>
                </a:solidFill>
              </a:rPr>
              <a:t>Guidewire Core suite landscape</a:t>
            </a:r>
          </a:p>
          <a:p>
            <a:pPr>
              <a:lnSpc>
                <a:spcPct val="150000"/>
              </a:lnSpc>
            </a:pPr>
            <a:r>
              <a:rPr lang="en-US" sz="2800" dirty="0">
                <a:solidFill>
                  <a:schemeClr val="hlink"/>
                </a:solidFill>
              </a:rPr>
              <a:t>Typical integrations to Guidewire</a:t>
            </a:r>
          </a:p>
          <a:p>
            <a:endParaRPr lang="en-US" sz="28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idx="1"/>
          </p:nvPr>
        </p:nvSpPr>
        <p:spPr>
          <a:xfrm>
            <a:off x="412750" y="2626111"/>
            <a:ext cx="8318500" cy="4438185"/>
          </a:xfrm>
        </p:spPr>
        <p:txBody>
          <a:bodyPr/>
          <a:lstStyle/>
          <a:p>
            <a:r>
              <a:rPr lang="en-US" dirty="0"/>
              <a:t>Guidewire Software, Inc., commonly Guidewire, is an American software company established in 2001 based in San Mateo, California. </a:t>
            </a:r>
          </a:p>
          <a:p>
            <a:r>
              <a:rPr lang="en-US" dirty="0"/>
              <a:t>Guidewire offers an industry platform for property and casualty (P&amp;C) insurance carriers </a:t>
            </a:r>
            <a:r>
              <a:rPr lang="en-US" b="0" i="0" dirty="0">
                <a:solidFill>
                  <a:srgbClr val="202122"/>
                </a:solidFill>
                <a:effectLst/>
                <a:latin typeface="Arial" panose="020B0604020202020204" pitchFamily="34" charset="0"/>
              </a:rPr>
              <a:t>in U.S. and worldwide</a:t>
            </a:r>
            <a:r>
              <a:rPr lang="en-US" dirty="0"/>
              <a:t>.</a:t>
            </a:r>
          </a:p>
          <a:p>
            <a:r>
              <a:rPr lang="en-US" dirty="0"/>
              <a:t>With 1,000 + Implementations Guidewire serve more than 450 P&amp;C insurers in 30+ countries and provide software, services, and partner ecosystem </a:t>
            </a:r>
          </a:p>
        </p:txBody>
      </p:sp>
      <p:pic>
        <p:nvPicPr>
          <p:cNvPr id="15" name="Picture 14">
            <a:extLst>
              <a:ext uri="{FF2B5EF4-FFF2-40B4-BE49-F238E27FC236}">
                <a16:creationId xmlns:a16="http://schemas.microsoft.com/office/drawing/2014/main" id="{71A366DA-2487-4A45-9A64-194B6AEAA220}"/>
              </a:ext>
            </a:extLst>
          </p:cNvPr>
          <p:cNvPicPr>
            <a:picLocks noChangeAspect="1"/>
          </p:cNvPicPr>
          <p:nvPr/>
        </p:nvPicPr>
        <p:blipFill>
          <a:blip r:embed="rId3"/>
          <a:stretch>
            <a:fillRect/>
          </a:stretch>
        </p:blipFill>
        <p:spPr>
          <a:xfrm>
            <a:off x="2090737" y="930468"/>
            <a:ext cx="4962525" cy="1628775"/>
          </a:xfrm>
          <a:prstGeom prst="rect">
            <a:avLst/>
          </a:prstGeom>
        </p:spPr>
      </p:pic>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a:lstStyle/>
          <a:p>
            <a:r>
              <a:rPr lang="en-US" dirty="0"/>
              <a:t>Guidewire Organization</a:t>
            </a:r>
          </a:p>
        </p:txBody>
      </p:sp>
    </p:spTree>
    <p:extLst>
      <p:ext uri="{BB962C8B-B14F-4D97-AF65-F5344CB8AC3E}">
        <p14:creationId xmlns:p14="http://schemas.microsoft.com/office/powerpoint/2010/main" val="185967104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title"/>
          </p:nvPr>
        </p:nvSpPr>
        <p:spPr>
          <a:xfrm>
            <a:off x="495300" y="120650"/>
            <a:ext cx="8318500" cy="742950"/>
          </a:xfrm>
        </p:spPr>
        <p:txBody>
          <a:bodyPr wrap="square" anchor="t">
            <a:normAutofit/>
          </a:bodyPr>
          <a:lstStyle/>
          <a:p>
            <a:pPr algn="l"/>
            <a:r>
              <a:rPr lang="en-US" dirty="0"/>
              <a:t>Gartner Report - Magic</a:t>
            </a:r>
            <a:r>
              <a:rPr lang="en-US" b="0" i="0" dirty="0">
                <a:solidFill>
                  <a:srgbClr val="212121"/>
                </a:solidFill>
                <a:effectLst/>
                <a:latin typeface="Gartner sans"/>
              </a:rPr>
              <a:t> </a:t>
            </a:r>
            <a:r>
              <a:rPr lang="en-US" dirty="0"/>
              <a:t>Quadrant</a:t>
            </a:r>
          </a:p>
        </p:txBody>
      </p:sp>
      <p:sp>
        <p:nvSpPr>
          <p:cNvPr id="6147" name="Rectangle 4"/>
          <p:cNvSpPr>
            <a:spLocks noGrp="1" noChangeArrowheads="1"/>
          </p:cNvSpPr>
          <p:nvPr>
            <p:ph sz="half" idx="1"/>
          </p:nvPr>
        </p:nvSpPr>
        <p:spPr>
          <a:xfrm>
            <a:off x="495300" y="699268"/>
            <a:ext cx="8294687" cy="405093"/>
          </a:xfrm>
        </p:spPr>
        <p:txBody>
          <a:bodyPr wrap="square" anchor="t">
            <a:normAutofit/>
          </a:bodyPr>
          <a:lstStyle/>
          <a:p>
            <a:pPr>
              <a:buFont typeface="Arial" charset="0"/>
              <a:buChar char="•"/>
            </a:pPr>
            <a:r>
              <a:rPr lang="en-US" dirty="0"/>
              <a:t>Magic</a:t>
            </a:r>
            <a:r>
              <a:rPr lang="en-US" b="0" i="0" dirty="0">
                <a:solidFill>
                  <a:srgbClr val="212121"/>
                </a:solidFill>
                <a:effectLst/>
                <a:latin typeface="Gartner sans"/>
              </a:rPr>
              <a:t> </a:t>
            </a:r>
            <a:r>
              <a:rPr lang="en-US" dirty="0"/>
              <a:t>Quadrant for P&amp;C Core Platforms</a:t>
            </a:r>
            <a:endParaRPr lang="en-US" sz="2400" dirty="0"/>
          </a:p>
        </p:txBody>
      </p:sp>
      <p:pic>
        <p:nvPicPr>
          <p:cNvPr id="1026" name="Picture 2" descr="Magic Quadrant for P&amp;C Core Platforms, North America">
            <a:extLst>
              <a:ext uri="{FF2B5EF4-FFF2-40B4-BE49-F238E27FC236}">
                <a16:creationId xmlns:a16="http://schemas.microsoft.com/office/drawing/2014/main" id="{95313F34-BCF5-4839-8FF1-5C6E73D1FC4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1102" y="1857381"/>
            <a:ext cx="4284598" cy="4438261"/>
          </a:xfrm>
          <a:prstGeom prst="rect">
            <a:avLst/>
          </a:prstGeom>
          <a:solidFill>
            <a:srgbClr val="FFFFFF"/>
          </a:solidFill>
        </p:spPr>
      </p:pic>
      <p:pic>
        <p:nvPicPr>
          <p:cNvPr id="1048" name="Picture 24" descr="Magic Quadrant for Non-Life-Insurance Platforms, Europe">
            <a:extLst>
              <a:ext uri="{FF2B5EF4-FFF2-40B4-BE49-F238E27FC236}">
                <a16:creationId xmlns:a16="http://schemas.microsoft.com/office/drawing/2014/main" id="{A061D0A9-C17A-4534-BA47-B3DAF60A3E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8250" y="1803798"/>
            <a:ext cx="4376511" cy="4545429"/>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4">
            <a:extLst>
              <a:ext uri="{FF2B5EF4-FFF2-40B4-BE49-F238E27FC236}">
                <a16:creationId xmlns:a16="http://schemas.microsoft.com/office/drawing/2014/main" id="{24565BC2-B73E-4D43-BFE3-494FC9CCC99C}"/>
              </a:ext>
            </a:extLst>
          </p:cNvPr>
          <p:cNvSpPr txBox="1">
            <a:spLocks noChangeArrowheads="1"/>
          </p:cNvSpPr>
          <p:nvPr/>
        </p:nvSpPr>
        <p:spPr bwMode="auto">
          <a:xfrm>
            <a:off x="1666755" y="1435830"/>
            <a:ext cx="1819190" cy="36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rmAutofit fontScale="92500"/>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pitchFamily="34" charset="0"/>
              <a:buChar char="-"/>
              <a:defRPr sz="1800">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Arial" pitchFamily="34" charset="0"/>
              <a:buChar char="-"/>
              <a:defRPr sz="18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8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8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8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800">
                <a:solidFill>
                  <a:schemeClr val="bg1"/>
                </a:solidFill>
                <a:latin typeface="+mn-lt"/>
              </a:defRPr>
            </a:lvl9pPr>
          </a:lstStyle>
          <a:p>
            <a:pPr marL="0" indent="0">
              <a:buNone/>
            </a:pPr>
            <a:r>
              <a:rPr lang="en-US" b="0" kern="0" dirty="0"/>
              <a:t>North America</a:t>
            </a:r>
          </a:p>
        </p:txBody>
      </p:sp>
      <p:sp>
        <p:nvSpPr>
          <p:cNvPr id="19" name="Rectangle 4">
            <a:extLst>
              <a:ext uri="{FF2B5EF4-FFF2-40B4-BE49-F238E27FC236}">
                <a16:creationId xmlns:a16="http://schemas.microsoft.com/office/drawing/2014/main" id="{2FF068F4-FD8E-40C0-91F0-0F766CA3EFDE}"/>
              </a:ext>
            </a:extLst>
          </p:cNvPr>
          <p:cNvSpPr txBox="1">
            <a:spLocks noChangeArrowheads="1"/>
          </p:cNvSpPr>
          <p:nvPr/>
        </p:nvSpPr>
        <p:spPr bwMode="auto">
          <a:xfrm>
            <a:off x="6407770" y="1441947"/>
            <a:ext cx="1069475" cy="30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rmAutofit fontScale="92500" lnSpcReduction="20000"/>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pitchFamily="34" charset="0"/>
              <a:buChar char="-"/>
              <a:defRPr sz="1800">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Arial" pitchFamily="34" charset="0"/>
              <a:buChar char="-"/>
              <a:defRPr sz="18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8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8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8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800">
                <a:solidFill>
                  <a:schemeClr val="bg1"/>
                </a:solidFill>
                <a:latin typeface="+mn-lt"/>
              </a:defRPr>
            </a:lvl9pPr>
          </a:lstStyle>
          <a:p>
            <a:pPr marL="0" indent="0">
              <a:buNone/>
            </a:pPr>
            <a:r>
              <a:rPr lang="en-US" b="0" kern="0" dirty="0"/>
              <a:t>Europe</a:t>
            </a:r>
          </a:p>
        </p:txBody>
      </p:sp>
    </p:spTree>
    <p:extLst>
      <p:ext uri="{BB962C8B-B14F-4D97-AF65-F5344CB8AC3E}">
        <p14:creationId xmlns:p14="http://schemas.microsoft.com/office/powerpoint/2010/main" val="18166463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title"/>
          </p:nvPr>
        </p:nvSpPr>
        <p:spPr>
          <a:xfrm>
            <a:off x="495300" y="120650"/>
            <a:ext cx="8318500" cy="742950"/>
          </a:xfrm>
        </p:spPr>
        <p:txBody>
          <a:bodyPr wrap="square" anchor="t">
            <a:normAutofit/>
          </a:bodyPr>
          <a:lstStyle/>
          <a:p>
            <a:pPr algn="l"/>
            <a:r>
              <a:rPr lang="en-US" dirty="0"/>
              <a:t>Magic</a:t>
            </a:r>
            <a:r>
              <a:rPr lang="en-US" b="0" i="0" dirty="0">
                <a:solidFill>
                  <a:srgbClr val="212121"/>
                </a:solidFill>
                <a:effectLst/>
                <a:latin typeface="Gartner sans"/>
              </a:rPr>
              <a:t> </a:t>
            </a:r>
            <a:r>
              <a:rPr lang="en-US" dirty="0"/>
              <a:t>Quadrant </a:t>
            </a:r>
            <a:r>
              <a:rPr lang="en-US" dirty="0" err="1"/>
              <a:t>Contd</a:t>
            </a:r>
            <a:r>
              <a:rPr lang="en-US" dirty="0"/>
              <a:t>…</a:t>
            </a:r>
          </a:p>
        </p:txBody>
      </p:sp>
      <p:graphicFrame>
        <p:nvGraphicFramePr>
          <p:cNvPr id="4" name="Table 4">
            <a:extLst>
              <a:ext uri="{FF2B5EF4-FFF2-40B4-BE49-F238E27FC236}">
                <a16:creationId xmlns:a16="http://schemas.microsoft.com/office/drawing/2014/main" id="{58437F95-EE97-4275-93F2-067214DDE822}"/>
              </a:ext>
            </a:extLst>
          </p:cNvPr>
          <p:cNvGraphicFramePr>
            <a:graphicFrameLocks noGrp="1"/>
          </p:cNvGraphicFramePr>
          <p:nvPr>
            <p:extLst>
              <p:ext uri="{D42A27DB-BD31-4B8C-83A1-F6EECF244321}">
                <p14:modId xmlns:p14="http://schemas.microsoft.com/office/powerpoint/2010/main" val="1802027506"/>
              </p:ext>
            </p:extLst>
          </p:nvPr>
        </p:nvGraphicFramePr>
        <p:xfrm>
          <a:off x="385661" y="863600"/>
          <a:ext cx="8318500" cy="2444134"/>
        </p:xfrm>
        <a:graphic>
          <a:graphicData uri="http://schemas.openxmlformats.org/drawingml/2006/table">
            <a:tbl>
              <a:tblPr firstRow="1" bandRow="1">
                <a:tableStyleId>{5C22544A-7EE6-4342-B048-85BDC9FD1C3A}</a:tableStyleId>
              </a:tblPr>
              <a:tblGrid>
                <a:gridCol w="4159250">
                  <a:extLst>
                    <a:ext uri="{9D8B030D-6E8A-4147-A177-3AD203B41FA5}">
                      <a16:colId xmlns:a16="http://schemas.microsoft.com/office/drawing/2014/main" val="2796050852"/>
                    </a:ext>
                  </a:extLst>
                </a:gridCol>
                <a:gridCol w="4159250">
                  <a:extLst>
                    <a:ext uri="{9D8B030D-6E8A-4147-A177-3AD203B41FA5}">
                      <a16:colId xmlns:a16="http://schemas.microsoft.com/office/drawing/2014/main" val="3617932453"/>
                    </a:ext>
                  </a:extLst>
                </a:gridCol>
              </a:tblGrid>
              <a:tr h="326281">
                <a:tc>
                  <a:txBody>
                    <a:bodyPr/>
                    <a:lstStyle/>
                    <a:p>
                      <a:r>
                        <a:rPr lang="en-US" dirty="0"/>
                        <a:t>Strengths</a:t>
                      </a:r>
                    </a:p>
                  </a:txBody>
                  <a:tcPr/>
                </a:tc>
                <a:tc>
                  <a:txBody>
                    <a:bodyPr/>
                    <a:lstStyle/>
                    <a:p>
                      <a:r>
                        <a:rPr lang="en-US" dirty="0"/>
                        <a:t>Comments</a:t>
                      </a:r>
                    </a:p>
                  </a:txBody>
                  <a:tcPr/>
                </a:tc>
                <a:extLst>
                  <a:ext uri="{0D108BD9-81ED-4DB2-BD59-A6C34878D82A}">
                    <a16:rowId xmlns:a16="http://schemas.microsoft.com/office/drawing/2014/main" val="1945426507"/>
                  </a:ext>
                </a:extLst>
              </a:tr>
              <a:tr h="3262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Platform Vision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Core Modules, Data and analytics solution, Suite of portals, Partner Solutions through Insurance App Store</a:t>
                      </a:r>
                    </a:p>
                  </a:txBody>
                  <a:tcPr/>
                </a:tc>
                <a:extLst>
                  <a:ext uri="{0D108BD9-81ED-4DB2-BD59-A6C34878D82A}">
                    <a16:rowId xmlns:a16="http://schemas.microsoft.com/office/drawing/2014/main" val="4154914320"/>
                  </a:ext>
                </a:extLst>
              </a:tr>
              <a:tr h="3262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Sales Execution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Highest Wins – 29% in NA 2020 - 21</a:t>
                      </a:r>
                    </a:p>
                  </a:txBody>
                  <a:tcPr/>
                </a:tc>
                <a:extLst>
                  <a:ext uri="{0D108BD9-81ED-4DB2-BD59-A6C34878D82A}">
                    <a16:rowId xmlns:a16="http://schemas.microsoft.com/office/drawing/2014/main" val="639042056"/>
                  </a:ext>
                </a:extLst>
              </a:tr>
              <a:tr h="4324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Implementation Partners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10,000 formally certified SI consultants</a:t>
                      </a:r>
                    </a:p>
                  </a:txBody>
                  <a:tcPr/>
                </a:tc>
                <a:extLst>
                  <a:ext uri="{0D108BD9-81ED-4DB2-BD59-A6C34878D82A}">
                    <a16:rowId xmlns:a16="http://schemas.microsoft.com/office/drawing/2014/main" val="3872143934"/>
                  </a:ext>
                </a:extLst>
              </a:tr>
              <a:tr h="3262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R&amp;D Investment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bg1"/>
                          </a:solidFill>
                          <a:effectLst/>
                          <a:latin typeface="+mn-lt"/>
                          <a:ea typeface="+mn-ea"/>
                          <a:cs typeface="+mn-cs"/>
                        </a:rPr>
                        <a:t> $200 million - 35% of its total revenue</a:t>
                      </a:r>
                    </a:p>
                  </a:txBody>
                  <a:tcPr/>
                </a:tc>
                <a:extLst>
                  <a:ext uri="{0D108BD9-81ED-4DB2-BD59-A6C34878D82A}">
                    <a16:rowId xmlns:a16="http://schemas.microsoft.com/office/drawing/2014/main" val="3738823800"/>
                  </a:ext>
                </a:extLst>
              </a:tr>
            </a:tbl>
          </a:graphicData>
        </a:graphic>
      </p:graphicFrame>
      <p:graphicFrame>
        <p:nvGraphicFramePr>
          <p:cNvPr id="2" name="Table 1">
            <a:extLst>
              <a:ext uri="{FF2B5EF4-FFF2-40B4-BE49-F238E27FC236}">
                <a16:creationId xmlns:a16="http://schemas.microsoft.com/office/drawing/2014/main" id="{14990BE5-9327-4618-B6A3-88CFF21BFFBC}"/>
              </a:ext>
            </a:extLst>
          </p:cNvPr>
          <p:cNvGraphicFramePr>
            <a:graphicFrameLocks noGrp="1"/>
          </p:cNvGraphicFramePr>
          <p:nvPr>
            <p:extLst>
              <p:ext uri="{D42A27DB-BD31-4B8C-83A1-F6EECF244321}">
                <p14:modId xmlns:p14="http://schemas.microsoft.com/office/powerpoint/2010/main" val="3178688847"/>
              </p:ext>
            </p:extLst>
          </p:nvPr>
        </p:nvGraphicFramePr>
        <p:xfrm>
          <a:off x="412750" y="3733975"/>
          <a:ext cx="8318500" cy="3084214"/>
        </p:xfrm>
        <a:graphic>
          <a:graphicData uri="http://schemas.openxmlformats.org/drawingml/2006/table">
            <a:tbl>
              <a:tblPr firstRow="1" bandRow="1">
                <a:tableStyleId>{5C22544A-7EE6-4342-B048-85BDC9FD1C3A}</a:tableStyleId>
              </a:tblPr>
              <a:tblGrid>
                <a:gridCol w="4159250">
                  <a:extLst>
                    <a:ext uri="{9D8B030D-6E8A-4147-A177-3AD203B41FA5}">
                      <a16:colId xmlns:a16="http://schemas.microsoft.com/office/drawing/2014/main" val="725959356"/>
                    </a:ext>
                  </a:extLst>
                </a:gridCol>
                <a:gridCol w="4159250">
                  <a:extLst>
                    <a:ext uri="{9D8B030D-6E8A-4147-A177-3AD203B41FA5}">
                      <a16:colId xmlns:a16="http://schemas.microsoft.com/office/drawing/2014/main" val="2901018032"/>
                    </a:ext>
                  </a:extLst>
                </a:gridCol>
              </a:tblGrid>
              <a:tr h="326281">
                <a:tc>
                  <a:txBody>
                    <a:bodyPr/>
                    <a:lstStyle/>
                    <a:p>
                      <a:r>
                        <a:rPr lang="en-US" dirty="0"/>
                        <a:t>Cautions</a:t>
                      </a:r>
                    </a:p>
                  </a:txBody>
                  <a:tcPr/>
                </a:tc>
                <a:tc>
                  <a:txBody>
                    <a:bodyPr/>
                    <a:lstStyle/>
                    <a:p>
                      <a:r>
                        <a:rPr lang="en-US" dirty="0"/>
                        <a:t>Comments</a:t>
                      </a:r>
                    </a:p>
                  </a:txBody>
                  <a:tcPr/>
                </a:tc>
                <a:extLst>
                  <a:ext uri="{0D108BD9-81ED-4DB2-BD59-A6C34878D82A}">
                    <a16:rowId xmlns:a16="http://schemas.microsoft.com/office/drawing/2014/main" val="1770414503"/>
                  </a:ext>
                </a:extLst>
              </a:tr>
              <a:tr h="326281">
                <a:tc>
                  <a:txBody>
                    <a:bodyPr/>
                    <a:lstStyle/>
                    <a:p>
                      <a:r>
                        <a:rPr lang="en-US" sz="1800" b="0" i="0" kern="1200" dirty="0">
                          <a:solidFill>
                            <a:schemeClr val="bg1"/>
                          </a:solidFill>
                          <a:effectLst/>
                          <a:latin typeface="+mn-lt"/>
                          <a:ea typeface="+mn-ea"/>
                          <a:cs typeface="+mn-cs"/>
                        </a:rPr>
                        <a:t>SaaS Model</a:t>
                      </a:r>
                    </a:p>
                  </a:txBody>
                  <a:tcPr/>
                </a:tc>
                <a:tc>
                  <a:txBody>
                    <a:bodyPr/>
                    <a:lstStyle/>
                    <a:p>
                      <a:r>
                        <a:rPr lang="en-US" sz="1800" b="0" i="0" kern="1200" dirty="0">
                          <a:solidFill>
                            <a:schemeClr val="bg1"/>
                          </a:solidFill>
                          <a:effectLst/>
                          <a:latin typeface="+mn-lt"/>
                          <a:ea typeface="+mn-ea"/>
                          <a:cs typeface="+mn-cs"/>
                        </a:rPr>
                        <a:t>Does not offer a true SaaS model</a:t>
                      </a:r>
                    </a:p>
                  </a:txBody>
                  <a:tcPr/>
                </a:tc>
                <a:extLst>
                  <a:ext uri="{0D108BD9-81ED-4DB2-BD59-A6C34878D82A}">
                    <a16:rowId xmlns:a16="http://schemas.microsoft.com/office/drawing/2014/main" val="2301973186"/>
                  </a:ext>
                </a:extLst>
              </a:tr>
              <a:tr h="326281">
                <a:tc>
                  <a:txBody>
                    <a:bodyPr/>
                    <a:lstStyle/>
                    <a:p>
                      <a:r>
                        <a:rPr lang="en-US" sz="1800" b="0" i="0" kern="1200" dirty="0">
                          <a:solidFill>
                            <a:schemeClr val="bg1"/>
                          </a:solidFill>
                          <a:effectLst/>
                          <a:latin typeface="+mn-lt"/>
                          <a:ea typeface="+mn-ea"/>
                          <a:cs typeface="+mn-cs"/>
                        </a:rPr>
                        <a:t>Cloud Execution</a:t>
                      </a:r>
                    </a:p>
                  </a:txBody>
                  <a:tcPr/>
                </a:tc>
                <a:tc>
                  <a:txBody>
                    <a:bodyPr/>
                    <a:lstStyle/>
                    <a:p>
                      <a:r>
                        <a:rPr lang="en-US" sz="1800" b="0" i="0" kern="1200" dirty="0">
                          <a:solidFill>
                            <a:schemeClr val="bg1"/>
                          </a:solidFill>
                          <a:effectLst/>
                          <a:latin typeface="+mn-lt"/>
                          <a:ea typeface="+mn-ea"/>
                          <a:cs typeface="+mn-cs"/>
                        </a:rPr>
                        <a:t>31% (NA) and 81% (Europe) of New Wins are On-premises</a:t>
                      </a:r>
                    </a:p>
                  </a:txBody>
                  <a:tcPr/>
                </a:tc>
                <a:extLst>
                  <a:ext uri="{0D108BD9-81ED-4DB2-BD59-A6C34878D82A}">
                    <a16:rowId xmlns:a16="http://schemas.microsoft.com/office/drawing/2014/main" val="1365065568"/>
                  </a:ext>
                </a:extLst>
              </a:tr>
              <a:tr h="432454">
                <a:tc>
                  <a:txBody>
                    <a:bodyPr/>
                    <a:lstStyle/>
                    <a:p>
                      <a:r>
                        <a:rPr lang="en-US" sz="1800" b="0" i="0" kern="1200" dirty="0">
                          <a:solidFill>
                            <a:schemeClr val="bg1"/>
                          </a:solidFill>
                          <a:effectLst/>
                          <a:latin typeface="+mn-lt"/>
                          <a:ea typeface="+mn-ea"/>
                          <a:cs typeface="+mn-cs"/>
                        </a:rPr>
                        <a:t>Cloud Service-Level Agreements</a:t>
                      </a:r>
                    </a:p>
                  </a:txBody>
                  <a:tcPr/>
                </a:tc>
                <a:tc>
                  <a:txBody>
                    <a:bodyPr/>
                    <a:lstStyle/>
                    <a:p>
                      <a:r>
                        <a:rPr lang="en-US" sz="1800" b="0" i="0" kern="1200" dirty="0">
                          <a:solidFill>
                            <a:schemeClr val="bg1"/>
                          </a:solidFill>
                          <a:effectLst/>
                          <a:latin typeface="+mn-lt"/>
                          <a:ea typeface="+mn-ea"/>
                          <a:cs typeface="+mn-cs"/>
                        </a:rPr>
                        <a:t>Standard SLAs for uptime at 99.7%</a:t>
                      </a:r>
                    </a:p>
                  </a:txBody>
                  <a:tcPr/>
                </a:tc>
                <a:extLst>
                  <a:ext uri="{0D108BD9-81ED-4DB2-BD59-A6C34878D82A}">
                    <a16:rowId xmlns:a16="http://schemas.microsoft.com/office/drawing/2014/main" val="2084584661"/>
                  </a:ext>
                </a:extLst>
              </a:tr>
              <a:tr h="326281">
                <a:tc>
                  <a:txBody>
                    <a:bodyPr/>
                    <a:lstStyle/>
                    <a:p>
                      <a:r>
                        <a:rPr lang="en-US" sz="1800" b="0" i="0" kern="1200" dirty="0">
                          <a:solidFill>
                            <a:schemeClr val="bg1"/>
                          </a:solidFill>
                          <a:effectLst/>
                          <a:latin typeface="+mn-lt"/>
                          <a:ea typeface="+mn-ea"/>
                          <a:cs typeface="+mn-cs"/>
                        </a:rPr>
                        <a:t>Implementation Effort</a:t>
                      </a:r>
                    </a:p>
                  </a:txBody>
                  <a:tcPr/>
                </a:tc>
                <a:tc>
                  <a:txBody>
                    <a:bodyPr/>
                    <a:lstStyle/>
                    <a:p>
                      <a:r>
                        <a:rPr lang="en-US" sz="1800" b="0" i="0" kern="1200" dirty="0">
                          <a:solidFill>
                            <a:schemeClr val="bg1"/>
                          </a:solidFill>
                          <a:effectLst/>
                          <a:latin typeface="+mn-lt"/>
                          <a:ea typeface="+mn-ea"/>
                          <a:cs typeface="+mn-cs"/>
                        </a:rPr>
                        <a:t>Complex platform that offers users myriad options and configurations</a:t>
                      </a:r>
                    </a:p>
                  </a:txBody>
                  <a:tcPr/>
                </a:tc>
                <a:extLst>
                  <a:ext uri="{0D108BD9-81ED-4DB2-BD59-A6C34878D82A}">
                    <a16:rowId xmlns:a16="http://schemas.microsoft.com/office/drawing/2014/main" val="987797249"/>
                  </a:ext>
                </a:extLst>
              </a:tr>
              <a:tr h="326281">
                <a:tc>
                  <a:txBody>
                    <a:bodyPr/>
                    <a:lstStyle/>
                    <a:p>
                      <a:r>
                        <a:rPr lang="en-US" sz="1800" b="0" i="0" kern="1200" dirty="0">
                          <a:solidFill>
                            <a:schemeClr val="bg1"/>
                          </a:solidFill>
                          <a:effectLst/>
                          <a:latin typeface="+mn-lt"/>
                          <a:ea typeface="+mn-ea"/>
                          <a:cs typeface="+mn-cs"/>
                        </a:rPr>
                        <a:t>Localized content availability</a:t>
                      </a:r>
                    </a:p>
                  </a:txBody>
                  <a:tcPr/>
                </a:tc>
                <a:tc>
                  <a:txBody>
                    <a:bodyPr/>
                    <a:lstStyle/>
                    <a:p>
                      <a:r>
                        <a:rPr lang="en-US" sz="1800" b="0" i="0" kern="1200" dirty="0">
                          <a:solidFill>
                            <a:schemeClr val="bg1"/>
                          </a:solidFill>
                          <a:effectLst/>
                          <a:latin typeface="+mn-lt"/>
                          <a:ea typeface="+mn-ea"/>
                          <a:cs typeface="+mn-cs"/>
                        </a:rPr>
                        <a:t>Local market content release is in progress</a:t>
                      </a:r>
                    </a:p>
                  </a:txBody>
                  <a:tcPr/>
                </a:tc>
                <a:extLst>
                  <a:ext uri="{0D108BD9-81ED-4DB2-BD59-A6C34878D82A}">
                    <a16:rowId xmlns:a16="http://schemas.microsoft.com/office/drawing/2014/main" val="2293498704"/>
                  </a:ext>
                </a:extLst>
              </a:tr>
            </a:tbl>
          </a:graphicData>
        </a:graphic>
      </p:graphicFrame>
    </p:spTree>
    <p:extLst>
      <p:ext uri="{BB962C8B-B14F-4D97-AF65-F5344CB8AC3E}">
        <p14:creationId xmlns:p14="http://schemas.microsoft.com/office/powerpoint/2010/main" val="9620841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idx="1"/>
          </p:nvPr>
        </p:nvSpPr>
        <p:spPr>
          <a:xfrm>
            <a:off x="412750" y="1217700"/>
            <a:ext cx="8318500" cy="4422600"/>
          </a:xfrm>
        </p:spPr>
        <p:txBody>
          <a:bodyPr/>
          <a:lstStyle/>
          <a:p>
            <a:r>
              <a:rPr lang="en-US" dirty="0"/>
              <a:t>Guidewire </a:t>
            </a:r>
            <a:r>
              <a:rPr lang="en-US" dirty="0" err="1"/>
              <a:t>InsurancePlatform</a:t>
            </a:r>
            <a:r>
              <a:rPr lang="en-US" dirty="0"/>
              <a:t>™ provides the standard upon which insurers can optimize their operations, increase engagement, drive smart decisions, innovate quickly, and simplify IT</a:t>
            </a:r>
          </a:p>
          <a:p>
            <a:r>
              <a:rPr lang="en-US" dirty="0"/>
              <a:t>Guidewire </a:t>
            </a:r>
            <a:r>
              <a:rPr lang="en-US" dirty="0" err="1"/>
              <a:t>InsurancePlatform</a:t>
            </a:r>
            <a:r>
              <a:rPr lang="en-US" dirty="0"/>
              <a:t> is the P&amp;C industry platform that unifies Software, Services, and Partner Ecosystem to power customers’ business.</a:t>
            </a:r>
          </a:p>
          <a:p>
            <a:pPr lvl="1"/>
            <a:r>
              <a:rPr lang="en-US" b="1" dirty="0"/>
              <a:t>Software:</a:t>
            </a:r>
            <a:r>
              <a:rPr lang="en-US" dirty="0"/>
              <a:t> Applications support the entire insurance lifecycle</a:t>
            </a:r>
          </a:p>
          <a:p>
            <a:pPr lvl="1"/>
            <a:r>
              <a:rPr lang="en-US" b="1" dirty="0"/>
              <a:t>Services: </a:t>
            </a:r>
            <a:r>
              <a:rPr lang="en-US" dirty="0"/>
              <a:t>Implementation, support, and operational services</a:t>
            </a:r>
            <a:endParaRPr lang="en-US" b="1" dirty="0"/>
          </a:p>
          <a:p>
            <a:pPr lvl="1"/>
            <a:r>
              <a:rPr lang="en-US" b="1" dirty="0"/>
              <a:t>Partner Ecosystem: </a:t>
            </a:r>
            <a:r>
              <a:rPr lang="en-US" dirty="0"/>
              <a:t>Access to applications and content provided by established players </a:t>
            </a:r>
            <a:endParaRPr lang="en-US" b="1" dirty="0"/>
          </a:p>
          <a:p>
            <a:endParaRPr lang="en-US" b="1" dirty="0"/>
          </a:p>
          <a:p>
            <a:endParaRPr lang="en-US" b="1" dirty="0"/>
          </a:p>
        </p:txBody>
      </p:sp>
      <p:sp>
        <p:nvSpPr>
          <p:cNvPr id="4" name="Title 1">
            <a:extLst>
              <a:ext uri="{FF2B5EF4-FFF2-40B4-BE49-F238E27FC236}">
                <a16:creationId xmlns:a16="http://schemas.microsoft.com/office/drawing/2014/main" id="{5D87CB1E-5EAF-4059-B466-ADAC27AB71C0}"/>
              </a:ext>
            </a:extLst>
          </p:cNvPr>
          <p:cNvSpPr>
            <a:spLocks noGrp="1"/>
          </p:cNvSpPr>
          <p:nvPr>
            <p:ph type="title"/>
          </p:nvPr>
        </p:nvSpPr>
        <p:spPr>
          <a:xfrm>
            <a:off x="412750" y="209550"/>
            <a:ext cx="8813800" cy="742950"/>
          </a:xfrm>
        </p:spPr>
        <p:txBody>
          <a:bodyPr/>
          <a:lstStyle/>
          <a:p>
            <a:r>
              <a:rPr lang="en-US" dirty="0"/>
              <a:t>Guidewire </a:t>
            </a:r>
            <a:r>
              <a:rPr lang="en-US" dirty="0" err="1"/>
              <a:t>InsurancePlatform</a:t>
            </a:r>
            <a:endParaRPr lang="en-US" dirty="0"/>
          </a:p>
        </p:txBody>
      </p:sp>
    </p:spTree>
    <p:extLst>
      <p:ext uri="{BB962C8B-B14F-4D97-AF65-F5344CB8AC3E}">
        <p14:creationId xmlns:p14="http://schemas.microsoft.com/office/powerpoint/2010/main" val="294899938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t>
            </a:r>
            <a:r>
              <a:rPr lang="en-US" dirty="0" err="1"/>
              <a:t>InsurancePlatform</a:t>
            </a:r>
            <a:r>
              <a:rPr lang="en-US" dirty="0"/>
              <a:t> </a:t>
            </a:r>
            <a:r>
              <a:rPr lang="en-US" dirty="0" err="1"/>
              <a:t>Contd</a:t>
            </a:r>
            <a:r>
              <a:rPr lang="en-US" dirty="0"/>
              <a:t>…</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495300" y="863600"/>
            <a:ext cx="8318500" cy="4932157"/>
          </a:xfrm>
        </p:spPr>
        <p:txBody>
          <a:bodyPr/>
          <a:lstStyle/>
          <a:p>
            <a:r>
              <a:rPr lang="en-US" dirty="0">
                <a:solidFill>
                  <a:srgbClr val="424242"/>
                </a:solidFill>
                <a:latin typeface="Gartner sans"/>
              </a:rPr>
              <a:t>Guidewire develops the </a:t>
            </a:r>
            <a:r>
              <a:rPr lang="en-US" dirty="0" err="1">
                <a:solidFill>
                  <a:srgbClr val="424242"/>
                </a:solidFill>
                <a:latin typeface="Gartner sans"/>
              </a:rPr>
              <a:t>Gosu</a:t>
            </a:r>
            <a:r>
              <a:rPr lang="en-US" dirty="0">
                <a:solidFill>
                  <a:srgbClr val="424242"/>
                </a:solidFill>
                <a:latin typeface="Gartner sans"/>
              </a:rPr>
              <a:t> programming language, released as open source in 2010.</a:t>
            </a:r>
            <a:endParaRPr lang="en-US" b="0" i="0" dirty="0">
              <a:solidFill>
                <a:srgbClr val="424242"/>
              </a:solidFill>
              <a:effectLst/>
              <a:latin typeface="Gartner sans"/>
            </a:endParaRPr>
          </a:p>
          <a:p>
            <a:r>
              <a:rPr lang="en-US" b="0" i="0" dirty="0">
                <a:solidFill>
                  <a:srgbClr val="424242"/>
                </a:solidFill>
                <a:effectLst/>
                <a:latin typeface="Gartner sans"/>
              </a:rPr>
              <a:t>The platform has been developed in Java supporting Microsoft SQL Server and Oracle Database, and its SaaS offering is underpinned by Amazon Web Services (AWS). </a:t>
            </a:r>
          </a:p>
          <a:p>
            <a:r>
              <a:rPr lang="en-US" b="0" i="0" dirty="0">
                <a:solidFill>
                  <a:srgbClr val="424242"/>
                </a:solidFill>
                <a:effectLst/>
                <a:latin typeface="Gartner sans"/>
              </a:rPr>
              <a:t>In 2020, </a:t>
            </a:r>
            <a:r>
              <a:rPr lang="en-US" dirty="0">
                <a:solidFill>
                  <a:srgbClr val="424242"/>
                </a:solidFill>
                <a:latin typeface="Gartner sans"/>
              </a:rPr>
              <a:t>Guidewire </a:t>
            </a:r>
            <a:r>
              <a:rPr lang="en-US" b="0" i="0" dirty="0">
                <a:solidFill>
                  <a:srgbClr val="424242"/>
                </a:solidFill>
                <a:effectLst/>
                <a:latin typeface="Gartner sans"/>
              </a:rPr>
              <a:t>delivered a new analytics platform for embedding intelligence to automate core insurance processes, a UBI solution and a self-service console for managing cloud deployment.</a:t>
            </a:r>
          </a:p>
          <a:p>
            <a:endParaRPr lang="en-US" b="1" dirty="0"/>
          </a:p>
        </p:txBody>
      </p:sp>
    </p:spTree>
    <p:extLst>
      <p:ext uri="{BB962C8B-B14F-4D97-AF65-F5344CB8AC3E}">
        <p14:creationId xmlns:p14="http://schemas.microsoft.com/office/powerpoint/2010/main" val="192806580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825500" y="120650"/>
            <a:ext cx="8318500" cy="742950"/>
          </a:xfrm>
        </p:spPr>
        <p:txBody>
          <a:bodyPr/>
          <a:lstStyle/>
          <a:p>
            <a:pPr eaLnBrk="1" hangingPunct="1"/>
            <a:r>
              <a:rPr lang="en-US"/>
              <a:t>Lesson outline</a:t>
            </a:r>
          </a:p>
        </p:txBody>
      </p:sp>
      <p:sp>
        <p:nvSpPr>
          <p:cNvPr id="5123" name="Rectangle 3"/>
          <p:cNvSpPr>
            <a:spLocks noGrp="1" noChangeArrowheads="1"/>
          </p:cNvSpPr>
          <p:nvPr>
            <p:ph type="body" idx="4294967295"/>
          </p:nvPr>
        </p:nvSpPr>
        <p:spPr bwMode="gray">
          <a:xfrm>
            <a:off x="482600" y="681038"/>
            <a:ext cx="8318500" cy="5708650"/>
          </a:xfrm>
        </p:spPr>
        <p:txBody>
          <a:bodyPr/>
          <a:lstStyle/>
          <a:p>
            <a:pPr>
              <a:lnSpc>
                <a:spcPct val="150000"/>
              </a:lnSpc>
            </a:pPr>
            <a:r>
              <a:rPr lang="en-US" sz="2800" dirty="0">
                <a:solidFill>
                  <a:schemeClr val="hlink"/>
                </a:solidFill>
              </a:rPr>
              <a:t>Guidewire Organization</a:t>
            </a:r>
          </a:p>
          <a:p>
            <a:pPr>
              <a:lnSpc>
                <a:spcPct val="150000"/>
              </a:lnSpc>
            </a:pPr>
            <a:r>
              <a:rPr lang="en-US" sz="2800" dirty="0"/>
              <a:t>Guidewire Products</a:t>
            </a:r>
          </a:p>
          <a:p>
            <a:pPr>
              <a:lnSpc>
                <a:spcPct val="150000"/>
              </a:lnSpc>
            </a:pPr>
            <a:r>
              <a:rPr lang="en-US" sz="2800" dirty="0">
                <a:solidFill>
                  <a:schemeClr val="hlink"/>
                </a:solidFill>
              </a:rPr>
              <a:t>Guidewire Core suite landscape</a:t>
            </a:r>
          </a:p>
          <a:p>
            <a:pPr>
              <a:lnSpc>
                <a:spcPct val="150000"/>
              </a:lnSpc>
            </a:pPr>
            <a:r>
              <a:rPr lang="en-US" sz="2800" dirty="0">
                <a:solidFill>
                  <a:schemeClr val="hlink"/>
                </a:solidFill>
              </a:rPr>
              <a:t>Typical integrations to Guidewire</a:t>
            </a:r>
          </a:p>
          <a:p>
            <a:endParaRPr lang="en-US" sz="2800" dirty="0"/>
          </a:p>
        </p:txBody>
      </p:sp>
    </p:spTree>
    <p:extLst>
      <p:ext uri="{BB962C8B-B14F-4D97-AF65-F5344CB8AC3E}">
        <p14:creationId xmlns:p14="http://schemas.microsoft.com/office/powerpoint/2010/main" val="146320666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idx="1"/>
          </p:nvPr>
        </p:nvSpPr>
        <p:spPr>
          <a:xfrm>
            <a:off x="412750" y="1121402"/>
            <a:ext cx="8318500" cy="4932157"/>
          </a:xfrm>
        </p:spPr>
        <p:txBody>
          <a:bodyPr/>
          <a:lstStyle/>
          <a:p>
            <a:pPr marL="0" indent="0">
              <a:buNone/>
            </a:pPr>
            <a:r>
              <a:rPr lang="en-US" b="1" dirty="0"/>
              <a:t>Guidewire Core</a:t>
            </a:r>
          </a:p>
          <a:p>
            <a:r>
              <a:rPr lang="en-US" dirty="0"/>
              <a:t>The core systems cover the entire P&amp;C insurance lifecycle.</a:t>
            </a:r>
          </a:p>
          <a:p>
            <a:pPr marL="0" indent="0">
              <a:buNone/>
            </a:pPr>
            <a:r>
              <a:rPr lang="en-US" b="1" dirty="0"/>
              <a:t>Guidewire Data and Analytics </a:t>
            </a:r>
          </a:p>
          <a:p>
            <a:r>
              <a:rPr lang="en-US" dirty="0"/>
              <a:t>Guidewire’s data and analytics solutions gives a full view of the data</a:t>
            </a:r>
          </a:p>
          <a:p>
            <a:pPr marL="0" indent="0">
              <a:buNone/>
            </a:pPr>
            <a:r>
              <a:rPr lang="en-US" b="1" dirty="0"/>
              <a:t>Guidewire Digital™</a:t>
            </a:r>
          </a:p>
          <a:p>
            <a:r>
              <a:rPr lang="en-US" dirty="0"/>
              <a:t>Supports digital sales, service, and claims journeys</a:t>
            </a:r>
          </a:p>
          <a:p>
            <a:pPr marL="0" indent="0">
              <a:buNone/>
            </a:pPr>
            <a:r>
              <a:rPr lang="en-US" b="1" dirty="0"/>
              <a:t>Guidewire Cloud™</a:t>
            </a:r>
            <a:endParaRPr lang="en-US" dirty="0"/>
          </a:p>
          <a:p>
            <a:r>
              <a:rPr lang="en-US" dirty="0"/>
              <a:t>Guidewire delivers Software-as-a-Service (SaaS) solutions via Guidewire Cloud. </a:t>
            </a:r>
          </a:p>
          <a:p>
            <a:pPr marL="0" indent="0">
              <a:buNone/>
            </a:pPr>
            <a:endParaRPr lang="en-US" dirty="0"/>
          </a:p>
          <a:p>
            <a:endParaRPr lang="en-US" b="1" dirty="0"/>
          </a:p>
        </p:txBody>
      </p:sp>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a:lstStyle/>
          <a:p>
            <a:r>
              <a:rPr lang="en-US" dirty="0"/>
              <a:t>Guidewire offerings</a:t>
            </a:r>
          </a:p>
        </p:txBody>
      </p:sp>
    </p:spTree>
    <p:extLst>
      <p:ext uri="{BB962C8B-B14F-4D97-AF65-F5344CB8AC3E}">
        <p14:creationId xmlns:p14="http://schemas.microsoft.com/office/powerpoint/2010/main" val="351784229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products</a:t>
            </a:r>
          </a:p>
        </p:txBody>
      </p:sp>
      <p:pic>
        <p:nvPicPr>
          <p:cNvPr id="5" name="Picture 4">
            <a:extLst>
              <a:ext uri="{FF2B5EF4-FFF2-40B4-BE49-F238E27FC236}">
                <a16:creationId xmlns:a16="http://schemas.microsoft.com/office/drawing/2014/main" id="{AF7361C3-EA2F-43AF-BAB4-EDD4A81E031A}"/>
              </a:ext>
            </a:extLst>
          </p:cNvPr>
          <p:cNvPicPr>
            <a:picLocks noChangeAspect="1"/>
          </p:cNvPicPr>
          <p:nvPr/>
        </p:nvPicPr>
        <p:blipFill>
          <a:blip r:embed="rId3"/>
          <a:stretch>
            <a:fillRect/>
          </a:stretch>
        </p:blipFill>
        <p:spPr>
          <a:xfrm>
            <a:off x="730949" y="863600"/>
            <a:ext cx="3195828" cy="5486400"/>
          </a:xfrm>
          <a:prstGeom prst="rect">
            <a:avLst/>
          </a:prstGeom>
          <a:noFill/>
        </p:spPr>
      </p:pic>
      <p:pic>
        <p:nvPicPr>
          <p:cNvPr id="10" name="Picture 9">
            <a:extLst>
              <a:ext uri="{FF2B5EF4-FFF2-40B4-BE49-F238E27FC236}">
                <a16:creationId xmlns:a16="http://schemas.microsoft.com/office/drawing/2014/main" id="{B33CCA39-EDA6-40AD-99C8-8BAE39EFB67D}"/>
              </a:ext>
            </a:extLst>
          </p:cNvPr>
          <p:cNvPicPr>
            <a:picLocks noChangeAspect="1"/>
          </p:cNvPicPr>
          <p:nvPr/>
        </p:nvPicPr>
        <p:blipFill>
          <a:blip r:embed="rId4"/>
          <a:stretch>
            <a:fillRect/>
          </a:stretch>
        </p:blipFill>
        <p:spPr>
          <a:xfrm>
            <a:off x="5217225" y="863600"/>
            <a:ext cx="2628900" cy="2181225"/>
          </a:xfrm>
          <a:prstGeom prst="rect">
            <a:avLst/>
          </a:prstGeom>
        </p:spPr>
      </p:pic>
    </p:spTree>
    <p:extLst>
      <p:ext uri="{BB962C8B-B14F-4D97-AF65-F5344CB8AC3E}">
        <p14:creationId xmlns:p14="http://schemas.microsoft.com/office/powerpoint/2010/main" val="91524780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t>
            </a:r>
            <a:r>
              <a:rPr lang="en-US" dirty="0" err="1"/>
              <a:t>InsuranceSuite</a:t>
            </a:r>
            <a:endParaRPr lang="en-US" dirty="0"/>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495300" y="863600"/>
            <a:ext cx="8318500" cy="4932157"/>
          </a:xfrm>
        </p:spPr>
        <p:txBody>
          <a:bodyPr/>
          <a:lstStyle/>
          <a:p>
            <a:r>
              <a:rPr lang="en-US" b="1" i="0" dirty="0" err="1">
                <a:solidFill>
                  <a:srgbClr val="424242"/>
                </a:solidFill>
                <a:effectLst/>
                <a:latin typeface="Gartner sans"/>
              </a:rPr>
              <a:t>InsuranceSuite</a:t>
            </a:r>
            <a:r>
              <a:rPr lang="en-US" b="0" i="0" dirty="0">
                <a:solidFill>
                  <a:srgbClr val="424242"/>
                </a:solidFill>
                <a:effectLst/>
                <a:latin typeface="Gartner sans"/>
              </a:rPr>
              <a:t> is a modular solution covering policy, billing, claims, rating, portal solutions and BI/analytics tools</a:t>
            </a:r>
          </a:p>
          <a:p>
            <a:pPr algn="l">
              <a:buFont typeface="Arial" panose="020B0604020202020204" pitchFamily="34" charset="0"/>
              <a:buChar char="•"/>
            </a:pPr>
            <a:r>
              <a:rPr lang="en-US" b="0" i="0" dirty="0">
                <a:solidFill>
                  <a:srgbClr val="424242"/>
                </a:solidFill>
                <a:effectLst/>
                <a:latin typeface="Gartner sans"/>
              </a:rPr>
              <a:t>Policy management, which provides full, end-to-end policy management and issuance functionality — including (but not limited to) quoting, rating, underwriting, policy generation and statistical reporting.</a:t>
            </a:r>
          </a:p>
          <a:p>
            <a:pPr algn="l">
              <a:buFont typeface="Arial" panose="020B0604020202020204" pitchFamily="34" charset="0"/>
              <a:buChar char="•"/>
            </a:pPr>
            <a:r>
              <a:rPr lang="en-US" b="0" i="0" dirty="0">
                <a:solidFill>
                  <a:srgbClr val="424242"/>
                </a:solidFill>
                <a:effectLst/>
                <a:latin typeface="Gartner sans"/>
              </a:rPr>
              <a:t>Claims management, which combines claims administration and business process management (BPM) to support every phase of the end-to-end claims process for non-life insurers, from first notice of loss (FNOL) through settlement and reporting.</a:t>
            </a:r>
          </a:p>
          <a:p>
            <a:r>
              <a:rPr lang="en-US" b="0" i="0" dirty="0">
                <a:solidFill>
                  <a:srgbClr val="424242"/>
                </a:solidFill>
                <a:effectLst/>
                <a:latin typeface="Gartner sans"/>
              </a:rPr>
              <a:t>Billing management, which supports the entire insurance billing and collections cycle, including (but not limited to) functionality such as electronic bill presentment and payment (EBPP).</a:t>
            </a:r>
          </a:p>
          <a:p>
            <a:pPr algn="l">
              <a:buFont typeface="Arial" panose="020B0604020202020204" pitchFamily="34" charset="0"/>
              <a:buChar char="•"/>
            </a:pPr>
            <a:endParaRPr lang="en-US" b="0" i="0" dirty="0">
              <a:solidFill>
                <a:srgbClr val="424242"/>
              </a:solidFill>
              <a:effectLst/>
              <a:latin typeface="Gartner sans"/>
            </a:endParaRPr>
          </a:p>
        </p:txBody>
      </p:sp>
    </p:spTree>
    <p:extLst>
      <p:ext uri="{BB962C8B-B14F-4D97-AF65-F5344CB8AC3E}">
        <p14:creationId xmlns:p14="http://schemas.microsoft.com/office/powerpoint/2010/main" val="170314803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t>
            </a:r>
            <a:r>
              <a:rPr lang="en-US" dirty="0" err="1"/>
              <a:t>InsuranceNow</a:t>
            </a:r>
            <a:endParaRPr lang="en-US" dirty="0"/>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552450" y="3566959"/>
            <a:ext cx="8318500" cy="2951317"/>
          </a:xfrm>
        </p:spPr>
        <p:txBody>
          <a:bodyPr/>
          <a:lstStyle/>
          <a:p>
            <a:r>
              <a:rPr lang="en-US" dirty="0">
                <a:solidFill>
                  <a:srgbClr val="424242"/>
                </a:solidFill>
                <a:latin typeface="Gartner sans"/>
              </a:rPr>
              <a:t>T</a:t>
            </a:r>
            <a:r>
              <a:rPr lang="en-US" i="0" dirty="0">
                <a:solidFill>
                  <a:srgbClr val="424242"/>
                </a:solidFill>
                <a:effectLst/>
                <a:latin typeface="Gartner sans"/>
              </a:rPr>
              <a:t>raditional P&amp;C core systems are complex requiring large teams of people to implement, integrate and support.</a:t>
            </a:r>
            <a:endParaRPr lang="en-US" b="1" dirty="0">
              <a:solidFill>
                <a:srgbClr val="424242"/>
              </a:solidFill>
              <a:latin typeface="Gartner sans"/>
            </a:endParaRPr>
          </a:p>
          <a:p>
            <a:r>
              <a:rPr lang="en-US" b="1" dirty="0" err="1">
                <a:solidFill>
                  <a:srgbClr val="424242"/>
                </a:solidFill>
                <a:latin typeface="Gartner sans"/>
              </a:rPr>
              <a:t>InsuranceNow</a:t>
            </a:r>
            <a:r>
              <a:rPr lang="en-US" dirty="0">
                <a:solidFill>
                  <a:srgbClr val="424242"/>
                </a:solidFill>
                <a:latin typeface="Gartner sans"/>
              </a:rPr>
              <a:t> is purpose built for insurers with limited IT resources.</a:t>
            </a:r>
            <a:r>
              <a:rPr lang="en-US" i="0" dirty="0">
                <a:solidFill>
                  <a:srgbClr val="424242"/>
                </a:solidFill>
                <a:effectLst/>
                <a:latin typeface="Gartner sans"/>
              </a:rPr>
              <a:t> It gives Insurer</a:t>
            </a:r>
            <a:r>
              <a:rPr lang="en-US" dirty="0">
                <a:solidFill>
                  <a:srgbClr val="424242"/>
                </a:solidFill>
                <a:latin typeface="Gartner sans"/>
              </a:rPr>
              <a:t>s a ready-to-go core platform that is complete, but not complex.</a:t>
            </a:r>
          </a:p>
          <a:p>
            <a:r>
              <a:rPr lang="en-US" dirty="0" err="1">
                <a:solidFill>
                  <a:srgbClr val="424242"/>
                </a:solidFill>
                <a:latin typeface="Gartner sans"/>
              </a:rPr>
              <a:t>InsuranceNow</a:t>
            </a:r>
            <a:r>
              <a:rPr lang="en-US" dirty="0">
                <a:solidFill>
                  <a:srgbClr val="424242"/>
                </a:solidFill>
                <a:latin typeface="Gartner sans"/>
              </a:rPr>
              <a:t> is a complete platform that unifies the core functionality of policy, claims, billing with digital and Analytics</a:t>
            </a:r>
          </a:p>
          <a:p>
            <a:endParaRPr lang="en-US" dirty="0">
              <a:solidFill>
                <a:srgbClr val="424242"/>
              </a:solidFill>
              <a:latin typeface="Gartner sans"/>
            </a:endParaRPr>
          </a:p>
        </p:txBody>
      </p:sp>
      <p:grpSp>
        <p:nvGrpSpPr>
          <p:cNvPr id="7" name="Group 6">
            <a:extLst>
              <a:ext uri="{FF2B5EF4-FFF2-40B4-BE49-F238E27FC236}">
                <a16:creationId xmlns:a16="http://schemas.microsoft.com/office/drawing/2014/main" id="{DF1C413D-8324-4F6D-BB3D-0C3524AD7EE9}"/>
              </a:ext>
            </a:extLst>
          </p:cNvPr>
          <p:cNvGrpSpPr/>
          <p:nvPr/>
        </p:nvGrpSpPr>
        <p:grpSpPr>
          <a:xfrm>
            <a:off x="552450" y="863600"/>
            <a:ext cx="8039100" cy="2427442"/>
            <a:chOff x="609600" y="1106128"/>
            <a:chExt cx="8039100" cy="2427442"/>
          </a:xfrm>
        </p:grpSpPr>
        <p:pic>
          <p:nvPicPr>
            <p:cNvPr id="3" name="Picture 2">
              <a:extLst>
                <a:ext uri="{FF2B5EF4-FFF2-40B4-BE49-F238E27FC236}">
                  <a16:creationId xmlns:a16="http://schemas.microsoft.com/office/drawing/2014/main" id="{AC5BF8DD-9484-4B2C-8D6B-E8560A39B8BC}"/>
                </a:ext>
              </a:extLst>
            </p:cNvPr>
            <p:cNvPicPr>
              <a:picLocks noChangeAspect="1"/>
            </p:cNvPicPr>
            <p:nvPr/>
          </p:nvPicPr>
          <p:blipFill>
            <a:blip r:embed="rId3"/>
            <a:stretch>
              <a:fillRect/>
            </a:stretch>
          </p:blipFill>
          <p:spPr>
            <a:xfrm>
              <a:off x="609600" y="1943100"/>
              <a:ext cx="8039100" cy="1590470"/>
            </a:xfrm>
            <a:prstGeom prst="rect">
              <a:avLst/>
            </a:prstGeom>
          </p:spPr>
        </p:pic>
        <p:pic>
          <p:nvPicPr>
            <p:cNvPr id="5" name="Picture 4">
              <a:extLst>
                <a:ext uri="{FF2B5EF4-FFF2-40B4-BE49-F238E27FC236}">
                  <a16:creationId xmlns:a16="http://schemas.microsoft.com/office/drawing/2014/main" id="{EDF259B3-D96E-47F7-AF3F-3CA6B008107E}"/>
                </a:ext>
              </a:extLst>
            </p:cNvPr>
            <p:cNvPicPr>
              <a:picLocks noChangeAspect="1"/>
            </p:cNvPicPr>
            <p:nvPr/>
          </p:nvPicPr>
          <p:blipFill>
            <a:blip r:embed="rId4"/>
            <a:stretch>
              <a:fillRect/>
            </a:stretch>
          </p:blipFill>
          <p:spPr>
            <a:xfrm>
              <a:off x="609600" y="1106128"/>
              <a:ext cx="8039100" cy="899725"/>
            </a:xfrm>
            <a:prstGeom prst="rect">
              <a:avLst/>
            </a:prstGeom>
          </p:spPr>
        </p:pic>
      </p:grpSp>
    </p:spTree>
    <p:extLst>
      <p:ext uri="{BB962C8B-B14F-4D97-AF65-F5344CB8AC3E}">
        <p14:creationId xmlns:p14="http://schemas.microsoft.com/office/powerpoint/2010/main" val="352193894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t>
            </a:r>
            <a:r>
              <a:rPr lang="en-US" dirty="0" err="1"/>
              <a:t>InsuranceNow</a:t>
            </a:r>
            <a:endParaRPr lang="en-US" dirty="0"/>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254643" y="4087659"/>
            <a:ext cx="8796759" cy="2275041"/>
          </a:xfrm>
        </p:spPr>
        <p:txBody>
          <a:bodyPr/>
          <a:lstStyle/>
          <a:p>
            <a:r>
              <a:rPr lang="en-US" dirty="0" err="1">
                <a:solidFill>
                  <a:srgbClr val="424242"/>
                </a:solidFill>
                <a:latin typeface="Gartner sans"/>
              </a:rPr>
              <a:t>InsuranceNow</a:t>
            </a:r>
            <a:r>
              <a:rPr lang="en-US" dirty="0">
                <a:solidFill>
                  <a:srgbClr val="424242"/>
                </a:solidFill>
                <a:latin typeface="Gartner sans"/>
              </a:rPr>
              <a:t> installs as a single system, reducing integration complexity enabling rapid implementation and regular upgrades</a:t>
            </a:r>
          </a:p>
          <a:p>
            <a:r>
              <a:rPr lang="en-US" dirty="0">
                <a:solidFill>
                  <a:srgbClr val="424242"/>
                </a:solidFill>
                <a:latin typeface="Gartner sans"/>
              </a:rPr>
              <a:t>“</a:t>
            </a:r>
            <a:r>
              <a:rPr lang="en-US" dirty="0" err="1">
                <a:solidFill>
                  <a:srgbClr val="424242"/>
                </a:solidFill>
                <a:latin typeface="Gartner sans"/>
              </a:rPr>
              <a:t>InsuranceNow</a:t>
            </a:r>
            <a:r>
              <a:rPr lang="en-US" dirty="0">
                <a:solidFill>
                  <a:srgbClr val="424242"/>
                </a:solidFill>
                <a:latin typeface="Gartner sans"/>
              </a:rPr>
              <a:t> GO” prepackaged implementations enable faster time to value</a:t>
            </a:r>
          </a:p>
          <a:p>
            <a:r>
              <a:rPr lang="en-US" dirty="0">
                <a:solidFill>
                  <a:srgbClr val="424242"/>
                </a:solidFill>
                <a:latin typeface="Gartner sans"/>
              </a:rPr>
              <a:t>Everything is served in cloud, so it’s secure, complaint and always on</a:t>
            </a:r>
          </a:p>
        </p:txBody>
      </p:sp>
      <p:pic>
        <p:nvPicPr>
          <p:cNvPr id="4" name="Picture 3">
            <a:extLst>
              <a:ext uri="{FF2B5EF4-FFF2-40B4-BE49-F238E27FC236}">
                <a16:creationId xmlns:a16="http://schemas.microsoft.com/office/drawing/2014/main" id="{1FB62878-4CA4-4BD8-AC81-02B554CFEA2A}"/>
              </a:ext>
            </a:extLst>
          </p:cNvPr>
          <p:cNvPicPr>
            <a:picLocks noChangeAspect="1"/>
          </p:cNvPicPr>
          <p:nvPr/>
        </p:nvPicPr>
        <p:blipFill>
          <a:blip r:embed="rId3"/>
          <a:stretch>
            <a:fillRect/>
          </a:stretch>
        </p:blipFill>
        <p:spPr>
          <a:xfrm>
            <a:off x="1416050" y="749300"/>
            <a:ext cx="6311900" cy="3189405"/>
          </a:xfrm>
          <a:prstGeom prst="rect">
            <a:avLst/>
          </a:prstGeom>
        </p:spPr>
      </p:pic>
    </p:spTree>
    <p:extLst>
      <p:ext uri="{BB962C8B-B14F-4D97-AF65-F5344CB8AC3E}">
        <p14:creationId xmlns:p14="http://schemas.microsoft.com/office/powerpoint/2010/main" val="91390025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495300" y="863600"/>
            <a:ext cx="8318500" cy="4402881"/>
          </a:xfrm>
        </p:spPr>
        <p:txBody>
          <a:bodyPr/>
          <a:lstStyle/>
          <a:p>
            <a:r>
              <a:rPr lang="en-US" dirty="0">
                <a:solidFill>
                  <a:srgbClr val="424242"/>
                </a:solidFill>
                <a:latin typeface="Gartner sans"/>
              </a:rPr>
              <a:t>Analytics products deliver embedded predictions to underwriters and claims adjusters so they can make smarter decisions on risk selection, pricing, claims triage, and settlement. </a:t>
            </a:r>
          </a:p>
        </p:txBody>
      </p:sp>
    </p:spTree>
    <p:extLst>
      <p:ext uri="{BB962C8B-B14F-4D97-AF65-F5344CB8AC3E}">
        <p14:creationId xmlns:p14="http://schemas.microsoft.com/office/powerpoint/2010/main" val="188403444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a:t>
            </a:r>
            <a:r>
              <a:rPr lang="en-US" dirty="0" err="1"/>
              <a:t>HazardHub</a:t>
            </a:r>
            <a:endParaRPr lang="en-US" dirty="0"/>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495300" y="863600"/>
            <a:ext cx="8318500" cy="4402881"/>
          </a:xfrm>
        </p:spPr>
        <p:txBody>
          <a:bodyPr/>
          <a:lstStyle/>
          <a:p>
            <a:r>
              <a:rPr lang="en-US" b="1" dirty="0" err="1">
                <a:solidFill>
                  <a:srgbClr val="424242"/>
                </a:solidFill>
                <a:latin typeface="Gartner sans"/>
              </a:rPr>
              <a:t>HazardHub</a:t>
            </a:r>
            <a:r>
              <a:rPr lang="en-US" dirty="0">
                <a:solidFill>
                  <a:srgbClr val="424242"/>
                </a:solidFill>
                <a:latin typeface="Gartner sans"/>
              </a:rPr>
              <a:t> Property is a cloud-native solution delivered via an API. Insurers need to enter only a U.S. address to receive valuable risk scores on properties in less than two seconds.</a:t>
            </a:r>
          </a:p>
          <a:p>
            <a:r>
              <a:rPr lang="en-US" dirty="0">
                <a:solidFill>
                  <a:srgbClr val="424242"/>
                </a:solidFill>
                <a:latin typeface="Gartner sans"/>
              </a:rPr>
              <a:t>Insurers can make informed decisions based on more than 950 risk variables, including perils from air, water, earth, and fire</a:t>
            </a:r>
          </a:p>
        </p:txBody>
      </p:sp>
      <p:pic>
        <p:nvPicPr>
          <p:cNvPr id="3" name="Picture 2">
            <a:extLst>
              <a:ext uri="{FF2B5EF4-FFF2-40B4-BE49-F238E27FC236}">
                <a16:creationId xmlns:a16="http://schemas.microsoft.com/office/drawing/2014/main" id="{387C4B29-334F-4830-9F1C-23A36F62CC70}"/>
              </a:ext>
            </a:extLst>
          </p:cNvPr>
          <p:cNvPicPr>
            <a:picLocks noChangeAspect="1"/>
          </p:cNvPicPr>
          <p:nvPr/>
        </p:nvPicPr>
        <p:blipFill>
          <a:blip r:embed="rId3"/>
          <a:stretch>
            <a:fillRect/>
          </a:stretch>
        </p:blipFill>
        <p:spPr>
          <a:xfrm>
            <a:off x="495300" y="3262010"/>
            <a:ext cx="7876251" cy="2974578"/>
          </a:xfrm>
          <a:prstGeom prst="rect">
            <a:avLst/>
          </a:prstGeom>
        </p:spPr>
      </p:pic>
    </p:spTree>
    <p:extLst>
      <p:ext uri="{BB962C8B-B14F-4D97-AF65-F5344CB8AC3E}">
        <p14:creationId xmlns:p14="http://schemas.microsoft.com/office/powerpoint/2010/main" val="231270824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Predict</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495300" y="847524"/>
            <a:ext cx="8318500" cy="5652947"/>
          </a:xfrm>
        </p:spPr>
        <p:txBody>
          <a:bodyPr/>
          <a:lstStyle/>
          <a:p>
            <a:r>
              <a:rPr lang="en-US" b="1" dirty="0">
                <a:solidFill>
                  <a:srgbClr val="424242"/>
                </a:solidFill>
                <a:latin typeface="Gartner sans"/>
              </a:rPr>
              <a:t>Guidewire Predict</a:t>
            </a:r>
            <a:r>
              <a:rPr lang="en-US" dirty="0">
                <a:solidFill>
                  <a:srgbClr val="424242"/>
                </a:solidFill>
                <a:latin typeface="Gartner sans"/>
              </a:rPr>
              <a:t> is an advanced, P&amp;C-specific machine-learning platform that empowers insurers to make intelligent, data-driven decisions throughout the insurance lifecycle.</a:t>
            </a:r>
          </a:p>
          <a:p>
            <a:pPr lvl="1"/>
            <a:r>
              <a:rPr lang="en-US" sz="2400" dirty="0">
                <a:solidFill>
                  <a:srgbClr val="424242"/>
                </a:solidFill>
                <a:latin typeface="Gartner sans"/>
              </a:rPr>
              <a:t>Predict for Claims</a:t>
            </a:r>
          </a:p>
          <a:p>
            <a:pPr lvl="1"/>
            <a:r>
              <a:rPr lang="en-US" sz="2400" dirty="0">
                <a:solidFill>
                  <a:srgbClr val="424242"/>
                </a:solidFill>
                <a:latin typeface="Gartner sans"/>
              </a:rPr>
              <a:t>Predict for Profitability</a:t>
            </a:r>
          </a:p>
          <a:p>
            <a:r>
              <a:rPr lang="en-US" dirty="0">
                <a:solidFill>
                  <a:srgbClr val="424242"/>
                </a:solidFill>
                <a:latin typeface="Gartner sans"/>
              </a:rPr>
              <a:t>Predict consists of three key applications that work together to embed real-time insights into core processes:</a:t>
            </a:r>
          </a:p>
          <a:p>
            <a:pPr lvl="1"/>
            <a:r>
              <a:rPr lang="en-US" dirty="0">
                <a:solidFill>
                  <a:srgbClr val="424242"/>
                </a:solidFill>
                <a:latin typeface="Gartner sans"/>
              </a:rPr>
              <a:t>BUILD</a:t>
            </a:r>
          </a:p>
          <a:p>
            <a:pPr lvl="1"/>
            <a:r>
              <a:rPr lang="en-US" dirty="0">
                <a:solidFill>
                  <a:srgbClr val="424242"/>
                </a:solidFill>
                <a:latin typeface="Gartner sans"/>
              </a:rPr>
              <a:t>DEPLOY</a:t>
            </a:r>
          </a:p>
          <a:p>
            <a:pPr lvl="1"/>
            <a:r>
              <a:rPr lang="en-US" dirty="0">
                <a:solidFill>
                  <a:srgbClr val="424242"/>
                </a:solidFill>
                <a:latin typeface="Gartner sans"/>
              </a:rPr>
              <a:t>MONITOR</a:t>
            </a:r>
            <a:endParaRPr lang="en-US" sz="2400" dirty="0">
              <a:solidFill>
                <a:srgbClr val="424242"/>
              </a:solidFill>
              <a:latin typeface="Gartner sans"/>
            </a:endParaRPr>
          </a:p>
          <a:p>
            <a:r>
              <a:rPr lang="en-US" dirty="0">
                <a:solidFill>
                  <a:srgbClr val="424242"/>
                </a:solidFill>
                <a:latin typeface="Gartner sans"/>
              </a:rPr>
              <a:t>Guidewire Predict seamlessly integrates with Guidewire </a:t>
            </a:r>
            <a:r>
              <a:rPr lang="en-US" dirty="0" err="1">
                <a:solidFill>
                  <a:srgbClr val="424242"/>
                </a:solidFill>
                <a:latin typeface="Gartner sans"/>
              </a:rPr>
              <a:t>ClaimCenter</a:t>
            </a:r>
            <a:r>
              <a:rPr lang="en-US" dirty="0">
                <a:solidFill>
                  <a:srgbClr val="424242"/>
                </a:solidFill>
                <a:latin typeface="Gartner sans"/>
              </a:rPr>
              <a:t>, Guidewire </a:t>
            </a:r>
            <a:r>
              <a:rPr lang="en-US" dirty="0" err="1">
                <a:solidFill>
                  <a:srgbClr val="424242"/>
                </a:solidFill>
                <a:latin typeface="Gartner sans"/>
              </a:rPr>
              <a:t>PolicyCenter</a:t>
            </a:r>
            <a:r>
              <a:rPr lang="en-US" dirty="0">
                <a:solidFill>
                  <a:srgbClr val="424242"/>
                </a:solidFill>
                <a:latin typeface="Gartner sans"/>
              </a:rPr>
              <a:t>, and Guidewire </a:t>
            </a:r>
            <a:r>
              <a:rPr lang="en-US" dirty="0" err="1">
                <a:solidFill>
                  <a:srgbClr val="424242"/>
                </a:solidFill>
                <a:latin typeface="Gartner sans"/>
              </a:rPr>
              <a:t>InsuranceNow</a:t>
            </a:r>
            <a:r>
              <a:rPr lang="en-US" dirty="0">
                <a:solidFill>
                  <a:srgbClr val="424242"/>
                </a:solidFill>
                <a:latin typeface="Gartner sans"/>
              </a:rPr>
              <a:t> to deliver scoring results in real time along with the impacting predictive factors</a:t>
            </a:r>
          </a:p>
          <a:p>
            <a:pPr lvl="1"/>
            <a:endParaRPr lang="en-US" sz="2400" dirty="0">
              <a:solidFill>
                <a:srgbClr val="424242"/>
              </a:solidFill>
              <a:latin typeface="Gartner sans"/>
            </a:endParaRPr>
          </a:p>
          <a:p>
            <a:pPr lvl="1"/>
            <a:endParaRPr lang="en-US" dirty="0">
              <a:solidFill>
                <a:srgbClr val="424242"/>
              </a:solidFill>
              <a:latin typeface="Gartner sans"/>
            </a:endParaRPr>
          </a:p>
          <a:p>
            <a:endParaRPr lang="en-US" dirty="0">
              <a:solidFill>
                <a:srgbClr val="424242"/>
              </a:solidFill>
              <a:latin typeface="Gartner sans"/>
            </a:endParaRPr>
          </a:p>
        </p:txBody>
      </p:sp>
    </p:spTree>
    <p:extLst>
      <p:ext uri="{BB962C8B-B14F-4D97-AF65-F5344CB8AC3E}">
        <p14:creationId xmlns:p14="http://schemas.microsoft.com/office/powerpoint/2010/main" val="310306450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Predict</a:t>
            </a:r>
          </a:p>
        </p:txBody>
      </p:sp>
      <p:pic>
        <p:nvPicPr>
          <p:cNvPr id="7" name="Picture 6">
            <a:extLst>
              <a:ext uri="{FF2B5EF4-FFF2-40B4-BE49-F238E27FC236}">
                <a16:creationId xmlns:a16="http://schemas.microsoft.com/office/drawing/2014/main" id="{ACF5FB4C-7D83-4609-A39F-A4CC81EEBFAB}"/>
              </a:ext>
            </a:extLst>
          </p:cNvPr>
          <p:cNvPicPr>
            <a:picLocks noChangeAspect="1"/>
          </p:cNvPicPr>
          <p:nvPr/>
        </p:nvPicPr>
        <p:blipFill>
          <a:blip r:embed="rId3"/>
          <a:stretch>
            <a:fillRect/>
          </a:stretch>
        </p:blipFill>
        <p:spPr>
          <a:xfrm>
            <a:off x="1569921" y="914400"/>
            <a:ext cx="7360948" cy="5486400"/>
          </a:xfrm>
          <a:prstGeom prst="rect">
            <a:avLst/>
          </a:prstGeom>
          <a:noFill/>
        </p:spPr>
      </p:pic>
    </p:spTree>
    <p:extLst>
      <p:ext uri="{BB962C8B-B14F-4D97-AF65-F5344CB8AC3E}">
        <p14:creationId xmlns:p14="http://schemas.microsoft.com/office/powerpoint/2010/main" val="128473263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Canvas</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495300" y="847525"/>
            <a:ext cx="8318500" cy="1189620"/>
          </a:xfrm>
        </p:spPr>
        <p:txBody>
          <a:bodyPr/>
          <a:lstStyle/>
          <a:p>
            <a:r>
              <a:rPr lang="en-US" b="1" dirty="0">
                <a:solidFill>
                  <a:srgbClr val="424242"/>
                </a:solidFill>
                <a:latin typeface="Gartner sans"/>
              </a:rPr>
              <a:t>Guidewire Canvas </a:t>
            </a:r>
            <a:r>
              <a:rPr lang="en-US" dirty="0">
                <a:solidFill>
                  <a:srgbClr val="424242"/>
                </a:solidFill>
                <a:latin typeface="Gartner sans"/>
              </a:rPr>
              <a:t>enables claims management and catastrophe response teams to geo-visualize claims and policy locations in the context of other internal and external data</a:t>
            </a:r>
          </a:p>
          <a:p>
            <a:pPr lvl="1"/>
            <a:endParaRPr lang="en-US" sz="2400" dirty="0">
              <a:solidFill>
                <a:srgbClr val="424242"/>
              </a:solidFill>
              <a:latin typeface="Gartner sans"/>
            </a:endParaRPr>
          </a:p>
          <a:p>
            <a:pPr lvl="1"/>
            <a:endParaRPr lang="en-US" dirty="0">
              <a:solidFill>
                <a:srgbClr val="424242"/>
              </a:solidFill>
              <a:latin typeface="Gartner sans"/>
            </a:endParaRPr>
          </a:p>
          <a:p>
            <a:endParaRPr lang="en-US" dirty="0">
              <a:solidFill>
                <a:srgbClr val="424242"/>
              </a:solidFill>
              <a:latin typeface="Gartner sans"/>
            </a:endParaRPr>
          </a:p>
        </p:txBody>
      </p:sp>
      <p:pic>
        <p:nvPicPr>
          <p:cNvPr id="3" name="Picture 2">
            <a:extLst>
              <a:ext uri="{FF2B5EF4-FFF2-40B4-BE49-F238E27FC236}">
                <a16:creationId xmlns:a16="http://schemas.microsoft.com/office/drawing/2014/main" id="{215BCA6B-4D6F-430D-B1A4-F0D08A7DB6A7}"/>
              </a:ext>
            </a:extLst>
          </p:cNvPr>
          <p:cNvPicPr>
            <a:picLocks noChangeAspect="1"/>
          </p:cNvPicPr>
          <p:nvPr/>
        </p:nvPicPr>
        <p:blipFill>
          <a:blip r:embed="rId3"/>
          <a:stretch>
            <a:fillRect/>
          </a:stretch>
        </p:blipFill>
        <p:spPr>
          <a:xfrm>
            <a:off x="1009107" y="2137217"/>
            <a:ext cx="7370964" cy="4112874"/>
          </a:xfrm>
          <a:prstGeom prst="rect">
            <a:avLst/>
          </a:prstGeom>
        </p:spPr>
      </p:pic>
    </p:spTree>
    <p:extLst>
      <p:ext uri="{BB962C8B-B14F-4D97-AF65-F5344CB8AC3E}">
        <p14:creationId xmlns:p14="http://schemas.microsoft.com/office/powerpoint/2010/main" val="381862751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Compare</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0" y="629213"/>
            <a:ext cx="9144000" cy="1130139"/>
          </a:xfrm>
        </p:spPr>
        <p:txBody>
          <a:bodyPr/>
          <a:lstStyle/>
          <a:p>
            <a:r>
              <a:rPr lang="en-US" b="1" dirty="0">
                <a:solidFill>
                  <a:srgbClr val="424242"/>
                </a:solidFill>
                <a:latin typeface="Gartner sans"/>
              </a:rPr>
              <a:t>Guidewire Compare</a:t>
            </a:r>
            <a:r>
              <a:rPr lang="en-US" dirty="0">
                <a:solidFill>
                  <a:srgbClr val="424242"/>
                </a:solidFill>
                <a:latin typeface="Gartner sans"/>
              </a:rPr>
              <a:t> monitors key claims measures and gives feedback on how you’re performing. It also helps optimize claims decisions with peer and industry benchmarking.</a:t>
            </a:r>
            <a:endParaRPr lang="en-US" sz="2400" dirty="0">
              <a:solidFill>
                <a:srgbClr val="424242"/>
              </a:solidFill>
              <a:latin typeface="Gartner sans"/>
            </a:endParaRPr>
          </a:p>
          <a:p>
            <a:pPr lvl="1"/>
            <a:endParaRPr lang="en-US" dirty="0">
              <a:solidFill>
                <a:srgbClr val="424242"/>
              </a:solidFill>
              <a:latin typeface="Gartner sans"/>
            </a:endParaRPr>
          </a:p>
          <a:p>
            <a:endParaRPr lang="en-US" dirty="0">
              <a:solidFill>
                <a:srgbClr val="424242"/>
              </a:solidFill>
              <a:latin typeface="Gartner sans"/>
            </a:endParaRPr>
          </a:p>
        </p:txBody>
      </p:sp>
      <p:pic>
        <p:nvPicPr>
          <p:cNvPr id="5" name="Picture 4">
            <a:extLst>
              <a:ext uri="{FF2B5EF4-FFF2-40B4-BE49-F238E27FC236}">
                <a16:creationId xmlns:a16="http://schemas.microsoft.com/office/drawing/2014/main" id="{EC3F3653-11D4-4ADE-9069-7671A3C882E6}"/>
              </a:ext>
            </a:extLst>
          </p:cNvPr>
          <p:cNvPicPr>
            <a:picLocks noChangeAspect="1"/>
          </p:cNvPicPr>
          <p:nvPr/>
        </p:nvPicPr>
        <p:blipFill>
          <a:blip r:embed="rId3"/>
          <a:stretch>
            <a:fillRect/>
          </a:stretch>
        </p:blipFill>
        <p:spPr>
          <a:xfrm>
            <a:off x="495301" y="2025291"/>
            <a:ext cx="8232010" cy="4100250"/>
          </a:xfrm>
          <a:prstGeom prst="rect">
            <a:avLst/>
          </a:prstGeom>
        </p:spPr>
      </p:pic>
      <p:sp>
        <p:nvSpPr>
          <p:cNvPr id="10" name="Content Placeholder 11">
            <a:extLst>
              <a:ext uri="{FF2B5EF4-FFF2-40B4-BE49-F238E27FC236}">
                <a16:creationId xmlns:a16="http://schemas.microsoft.com/office/drawing/2014/main" id="{3B706677-2F7F-4A69-A76F-4365CC22906B}"/>
              </a:ext>
            </a:extLst>
          </p:cNvPr>
          <p:cNvSpPr txBox="1">
            <a:spLocks/>
          </p:cNvSpPr>
          <p:nvPr/>
        </p:nvSpPr>
        <p:spPr bwMode="auto">
          <a:xfrm>
            <a:off x="-84076" y="2025291"/>
            <a:ext cx="3318879" cy="4282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Calibri"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endParaRPr lang="en-US" b="0" kern="0" dirty="0">
              <a:solidFill>
                <a:srgbClr val="424242"/>
              </a:solidFill>
              <a:latin typeface="Gartner sans"/>
            </a:endParaRPr>
          </a:p>
        </p:txBody>
      </p:sp>
    </p:spTree>
    <p:extLst>
      <p:ext uri="{BB962C8B-B14F-4D97-AF65-F5344CB8AC3E}">
        <p14:creationId xmlns:p14="http://schemas.microsoft.com/office/powerpoint/2010/main" val="391688358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Explore</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330199" y="863600"/>
            <a:ext cx="8318499" cy="1868025"/>
          </a:xfrm>
        </p:spPr>
        <p:txBody>
          <a:bodyPr/>
          <a:lstStyle/>
          <a:p>
            <a:r>
              <a:rPr lang="en-US" b="1" dirty="0">
                <a:solidFill>
                  <a:srgbClr val="424242"/>
                </a:solidFill>
                <a:latin typeface="Gartner sans"/>
              </a:rPr>
              <a:t>Guidewire Explore</a:t>
            </a:r>
            <a:r>
              <a:rPr lang="en-US" dirty="0">
                <a:solidFill>
                  <a:srgbClr val="424242"/>
                </a:solidFill>
                <a:latin typeface="Gartner sans"/>
              </a:rPr>
              <a:t> gathers and curates data from Guidewire </a:t>
            </a:r>
            <a:r>
              <a:rPr lang="en-US" dirty="0" err="1">
                <a:solidFill>
                  <a:srgbClr val="424242"/>
                </a:solidFill>
                <a:latin typeface="Gartner sans"/>
              </a:rPr>
              <a:t>InsuranceSuite</a:t>
            </a:r>
            <a:r>
              <a:rPr lang="en-US" dirty="0">
                <a:solidFill>
                  <a:srgbClr val="424242"/>
                </a:solidFill>
                <a:latin typeface="Gartner sans"/>
              </a:rPr>
              <a:t> in near real-time. It then visualizes that data to empower teams to make informed business decisions across claims, underwriting, sales, and service management.</a:t>
            </a:r>
          </a:p>
        </p:txBody>
      </p:sp>
      <p:pic>
        <p:nvPicPr>
          <p:cNvPr id="3" name="Picture 2">
            <a:extLst>
              <a:ext uri="{FF2B5EF4-FFF2-40B4-BE49-F238E27FC236}">
                <a16:creationId xmlns:a16="http://schemas.microsoft.com/office/drawing/2014/main" id="{E688F822-FDAD-44B3-AF7B-160F030B026C}"/>
              </a:ext>
            </a:extLst>
          </p:cNvPr>
          <p:cNvPicPr>
            <a:picLocks noChangeAspect="1"/>
          </p:cNvPicPr>
          <p:nvPr/>
        </p:nvPicPr>
        <p:blipFill>
          <a:blip r:embed="rId3"/>
          <a:stretch>
            <a:fillRect/>
          </a:stretch>
        </p:blipFill>
        <p:spPr>
          <a:xfrm>
            <a:off x="601884" y="2346598"/>
            <a:ext cx="7882359" cy="3965066"/>
          </a:xfrm>
          <a:prstGeom prst="rect">
            <a:avLst/>
          </a:prstGeom>
        </p:spPr>
      </p:pic>
    </p:spTree>
    <p:extLst>
      <p:ext uri="{BB962C8B-B14F-4D97-AF65-F5344CB8AC3E}">
        <p14:creationId xmlns:p14="http://schemas.microsoft.com/office/powerpoint/2010/main" val="134349141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a:t>
            </a:r>
            <a:r>
              <a:rPr lang="en-US" dirty="0" err="1"/>
              <a:t>Cyence</a:t>
            </a:r>
            <a:endParaRPr lang="en-US" dirty="0"/>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330200" y="863600"/>
            <a:ext cx="8483600" cy="1868025"/>
          </a:xfrm>
        </p:spPr>
        <p:txBody>
          <a:bodyPr/>
          <a:lstStyle/>
          <a:p>
            <a:r>
              <a:rPr lang="en-US" b="1" dirty="0">
                <a:solidFill>
                  <a:srgbClr val="424242"/>
                </a:solidFill>
                <a:latin typeface="Gartner sans"/>
              </a:rPr>
              <a:t>Guidewire </a:t>
            </a:r>
            <a:r>
              <a:rPr lang="en-US" b="1" dirty="0" err="1">
                <a:solidFill>
                  <a:srgbClr val="424242"/>
                </a:solidFill>
                <a:latin typeface="Gartner sans"/>
              </a:rPr>
              <a:t>Cyence</a:t>
            </a:r>
            <a:r>
              <a:rPr lang="en-US" dirty="0">
                <a:solidFill>
                  <a:srgbClr val="424242"/>
                </a:solidFill>
                <a:latin typeface="Gartner sans"/>
              </a:rPr>
              <a:t> (Cyber insurance risk modeling and analytics) Assess and quantify cybersecurity risk for individual companies to enable the insurers to make better cyber underwriting, portfolio management, and risk transfer decisions</a:t>
            </a:r>
          </a:p>
          <a:p>
            <a:r>
              <a:rPr lang="en-US" dirty="0">
                <a:solidFill>
                  <a:srgbClr val="424242"/>
                </a:solidFill>
                <a:latin typeface="Gartner sans"/>
              </a:rPr>
              <a:t>Accurately measure the financial impact of cyber risk for businesses.</a:t>
            </a:r>
          </a:p>
          <a:p>
            <a:r>
              <a:rPr lang="en-US" dirty="0">
                <a:solidFill>
                  <a:srgbClr val="424242"/>
                </a:solidFill>
                <a:latin typeface="Gartner sans"/>
              </a:rPr>
              <a:t> </a:t>
            </a:r>
            <a:r>
              <a:rPr lang="en-US" dirty="0" err="1">
                <a:solidFill>
                  <a:srgbClr val="424242"/>
                </a:solidFill>
                <a:latin typeface="Gartner sans"/>
              </a:rPr>
              <a:t>Cyence's</a:t>
            </a:r>
            <a:r>
              <a:rPr lang="en-US" dirty="0">
                <a:solidFill>
                  <a:srgbClr val="424242"/>
                </a:solidFill>
                <a:latin typeface="Gartner sans"/>
              </a:rPr>
              <a:t> proprietary data listening engine collects cyber-threat data in real time at internet scale from 400+ sources and 1,000+ data points. </a:t>
            </a:r>
            <a:r>
              <a:rPr lang="en-US" dirty="0" err="1">
                <a:solidFill>
                  <a:srgbClr val="424242"/>
                </a:solidFill>
                <a:latin typeface="Gartner sans"/>
              </a:rPr>
              <a:t>Cyence</a:t>
            </a:r>
            <a:r>
              <a:rPr lang="en-US" dirty="0">
                <a:solidFill>
                  <a:srgbClr val="424242"/>
                </a:solidFill>
                <a:latin typeface="Gartner sans"/>
              </a:rPr>
              <a:t> is the authoritative source of cyber exposure data.</a:t>
            </a:r>
          </a:p>
        </p:txBody>
      </p:sp>
    </p:spTree>
    <p:extLst>
      <p:ext uri="{BB962C8B-B14F-4D97-AF65-F5344CB8AC3E}">
        <p14:creationId xmlns:p14="http://schemas.microsoft.com/office/powerpoint/2010/main" val="70719465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a:t>
            </a:r>
            <a:r>
              <a:rPr lang="en-US" dirty="0" err="1"/>
              <a:t>Cyence</a:t>
            </a:r>
            <a:endParaRPr lang="en-US" dirty="0"/>
          </a:p>
        </p:txBody>
      </p:sp>
      <p:pic>
        <p:nvPicPr>
          <p:cNvPr id="4" name="Picture 3">
            <a:extLst>
              <a:ext uri="{FF2B5EF4-FFF2-40B4-BE49-F238E27FC236}">
                <a16:creationId xmlns:a16="http://schemas.microsoft.com/office/drawing/2014/main" id="{B75CDC73-6630-40E5-9963-8B9A5124C6ED}"/>
              </a:ext>
            </a:extLst>
          </p:cNvPr>
          <p:cNvPicPr>
            <a:picLocks noChangeAspect="1"/>
          </p:cNvPicPr>
          <p:nvPr/>
        </p:nvPicPr>
        <p:blipFill>
          <a:blip r:embed="rId3"/>
          <a:stretch>
            <a:fillRect/>
          </a:stretch>
        </p:blipFill>
        <p:spPr>
          <a:xfrm>
            <a:off x="412750" y="1026426"/>
            <a:ext cx="8318500" cy="5178265"/>
          </a:xfrm>
          <a:prstGeom prst="rect">
            <a:avLst/>
          </a:prstGeom>
          <a:noFill/>
        </p:spPr>
      </p:pic>
    </p:spTree>
    <p:extLst>
      <p:ext uri="{BB962C8B-B14F-4D97-AF65-F5344CB8AC3E}">
        <p14:creationId xmlns:p14="http://schemas.microsoft.com/office/powerpoint/2010/main" val="217601307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Analytics – Data Platform</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330200" y="863600"/>
            <a:ext cx="8483600" cy="1868025"/>
          </a:xfrm>
        </p:spPr>
        <p:txBody>
          <a:bodyPr/>
          <a:lstStyle/>
          <a:p>
            <a:r>
              <a:rPr lang="en-US" b="1" dirty="0">
                <a:solidFill>
                  <a:srgbClr val="424242"/>
                </a:solidFill>
                <a:latin typeface="Gartner sans"/>
              </a:rPr>
              <a:t>Guidewire Data Platform</a:t>
            </a:r>
            <a:r>
              <a:rPr lang="en-US" dirty="0">
                <a:solidFill>
                  <a:srgbClr val="424242"/>
                </a:solidFill>
                <a:latin typeface="Gartner sans"/>
              </a:rPr>
              <a:t> is the most complete P&amp;C insurance–specific data platform delivered as a cloud service enabling data as a service to support data access, curation, and conformance across multiple systems while maintaining fidelity and latency requirements</a:t>
            </a:r>
          </a:p>
        </p:txBody>
      </p:sp>
      <p:pic>
        <p:nvPicPr>
          <p:cNvPr id="3" name="Picture 2">
            <a:extLst>
              <a:ext uri="{FF2B5EF4-FFF2-40B4-BE49-F238E27FC236}">
                <a16:creationId xmlns:a16="http://schemas.microsoft.com/office/drawing/2014/main" id="{513FCD61-7D82-4B57-8C89-13CD04C30D6C}"/>
              </a:ext>
            </a:extLst>
          </p:cNvPr>
          <p:cNvPicPr>
            <a:picLocks noChangeAspect="1"/>
          </p:cNvPicPr>
          <p:nvPr/>
        </p:nvPicPr>
        <p:blipFill>
          <a:blip r:embed="rId3"/>
          <a:stretch>
            <a:fillRect/>
          </a:stretch>
        </p:blipFill>
        <p:spPr>
          <a:xfrm>
            <a:off x="993227" y="2952202"/>
            <a:ext cx="7157545" cy="3148737"/>
          </a:xfrm>
          <a:prstGeom prst="rect">
            <a:avLst/>
          </a:prstGeom>
        </p:spPr>
      </p:pic>
    </p:spTree>
    <p:extLst>
      <p:ext uri="{BB962C8B-B14F-4D97-AF65-F5344CB8AC3E}">
        <p14:creationId xmlns:p14="http://schemas.microsoft.com/office/powerpoint/2010/main" val="292742765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Cloud</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330200" y="705944"/>
            <a:ext cx="8614103" cy="5631793"/>
          </a:xfrm>
        </p:spPr>
        <p:txBody>
          <a:bodyPr/>
          <a:lstStyle/>
          <a:p>
            <a:r>
              <a:rPr lang="en-US" dirty="0">
                <a:solidFill>
                  <a:srgbClr val="424242"/>
                </a:solidFill>
                <a:latin typeface="Gartner sans"/>
              </a:rPr>
              <a:t>Guidewire Cloud is powered by Amazon Web Services (AWS) and uses more than 30 web services including Amazon Aurora. </a:t>
            </a:r>
          </a:p>
          <a:p>
            <a:r>
              <a:rPr lang="en-US" dirty="0">
                <a:solidFill>
                  <a:srgbClr val="424242"/>
                </a:solidFill>
                <a:latin typeface="Gartner sans"/>
              </a:rPr>
              <a:t>With Guidewire Cloud, all Guidewire products are now available as cloud services. </a:t>
            </a:r>
          </a:p>
          <a:p>
            <a:r>
              <a:rPr lang="en-US" dirty="0">
                <a:solidFill>
                  <a:srgbClr val="424242"/>
                </a:solidFill>
                <a:latin typeface="Gartner sans"/>
              </a:rPr>
              <a:t> Each Guidewire Cloud subscriber’s core systems are isolated as single tenants so that each customer can decide when the service is updated</a:t>
            </a:r>
          </a:p>
          <a:p>
            <a:r>
              <a:rPr lang="en-US" dirty="0">
                <a:solidFill>
                  <a:srgbClr val="424242"/>
                </a:solidFill>
                <a:latin typeface="Gartner sans"/>
              </a:rPr>
              <a:t>Increasingly, Guidewire is adding new capabilities as multitenant services. These services can be always on as well as updated whenever subscribers want — without down time or waiting for a maintenance window. For Ex: Ratings service, Rules service, and Provisioning service for </a:t>
            </a:r>
            <a:r>
              <a:rPr lang="en-US" dirty="0" err="1">
                <a:solidFill>
                  <a:srgbClr val="424242"/>
                </a:solidFill>
                <a:latin typeface="Gartner sans"/>
              </a:rPr>
              <a:t>InsuranceSuite</a:t>
            </a:r>
            <a:r>
              <a:rPr lang="en-US" dirty="0">
                <a:solidFill>
                  <a:srgbClr val="424242"/>
                </a:solidFill>
                <a:latin typeface="Gartner sans"/>
              </a:rPr>
              <a:t> customers</a:t>
            </a:r>
          </a:p>
          <a:p>
            <a:r>
              <a:rPr lang="en-US" dirty="0">
                <a:solidFill>
                  <a:srgbClr val="424242"/>
                </a:solidFill>
                <a:latin typeface="Gartner sans"/>
              </a:rPr>
              <a:t>In addition to prod and pre-prod environments, dev environments can be set up automatically and on demand</a:t>
            </a:r>
          </a:p>
        </p:txBody>
      </p:sp>
    </p:spTree>
    <p:extLst>
      <p:ext uri="{BB962C8B-B14F-4D97-AF65-F5344CB8AC3E}">
        <p14:creationId xmlns:p14="http://schemas.microsoft.com/office/powerpoint/2010/main" val="273822062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Cloud </a:t>
            </a:r>
            <a:r>
              <a:rPr lang="en-US" dirty="0" err="1"/>
              <a:t>Contd</a:t>
            </a:r>
            <a:r>
              <a:rPr lang="en-US" dirty="0"/>
              <a:t>…</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330200" y="705945"/>
            <a:ext cx="8614103" cy="1175408"/>
          </a:xfrm>
        </p:spPr>
        <p:txBody>
          <a:bodyPr/>
          <a:lstStyle/>
          <a:p>
            <a:r>
              <a:rPr lang="en-US" dirty="0">
                <a:solidFill>
                  <a:srgbClr val="424242"/>
                </a:solidFill>
                <a:latin typeface="Gartner sans"/>
              </a:rPr>
              <a:t>Guidewire Cloud Console provides an intuitive way for insurers to manage source code, CI/CD, environments, secrets, users, billing, and auditing.</a:t>
            </a:r>
          </a:p>
        </p:txBody>
      </p:sp>
      <p:pic>
        <p:nvPicPr>
          <p:cNvPr id="3" name="Picture 2">
            <a:extLst>
              <a:ext uri="{FF2B5EF4-FFF2-40B4-BE49-F238E27FC236}">
                <a16:creationId xmlns:a16="http://schemas.microsoft.com/office/drawing/2014/main" id="{2AC854AE-663A-4A65-846B-C0B32F89B1FB}"/>
              </a:ext>
            </a:extLst>
          </p:cNvPr>
          <p:cNvPicPr>
            <a:picLocks noChangeAspect="1"/>
          </p:cNvPicPr>
          <p:nvPr/>
        </p:nvPicPr>
        <p:blipFill>
          <a:blip r:embed="rId3"/>
          <a:stretch>
            <a:fillRect/>
          </a:stretch>
        </p:blipFill>
        <p:spPr>
          <a:xfrm>
            <a:off x="718544" y="1907629"/>
            <a:ext cx="7706911" cy="4411972"/>
          </a:xfrm>
          <a:prstGeom prst="rect">
            <a:avLst/>
          </a:prstGeom>
        </p:spPr>
      </p:pic>
    </p:spTree>
    <p:extLst>
      <p:ext uri="{BB962C8B-B14F-4D97-AF65-F5344CB8AC3E}">
        <p14:creationId xmlns:p14="http://schemas.microsoft.com/office/powerpoint/2010/main" val="333274152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B86CEF-AFC3-4F16-84A1-5239BF249EEB}"/>
              </a:ext>
            </a:extLst>
          </p:cNvPr>
          <p:cNvSpPr>
            <a:spLocks noGrp="1"/>
          </p:cNvSpPr>
          <p:nvPr>
            <p:ph type="title"/>
          </p:nvPr>
        </p:nvSpPr>
        <p:spPr>
          <a:xfrm>
            <a:off x="495300" y="120650"/>
            <a:ext cx="8318500" cy="742950"/>
          </a:xfrm>
        </p:spPr>
        <p:txBody>
          <a:bodyPr wrap="square" anchor="t">
            <a:normAutofit/>
          </a:bodyPr>
          <a:lstStyle/>
          <a:p>
            <a:r>
              <a:rPr lang="en-US" dirty="0"/>
              <a:t>Guidewire Ecosystem</a:t>
            </a:r>
          </a:p>
        </p:txBody>
      </p:sp>
      <p:sp>
        <p:nvSpPr>
          <p:cNvPr id="6" name="Content Placeholder 11">
            <a:extLst>
              <a:ext uri="{FF2B5EF4-FFF2-40B4-BE49-F238E27FC236}">
                <a16:creationId xmlns:a16="http://schemas.microsoft.com/office/drawing/2014/main" id="{BF512A2B-E730-436E-A33B-F5563AF72E52}"/>
              </a:ext>
            </a:extLst>
          </p:cNvPr>
          <p:cNvSpPr>
            <a:spLocks noGrp="1"/>
          </p:cNvSpPr>
          <p:nvPr>
            <p:ph idx="1"/>
          </p:nvPr>
        </p:nvSpPr>
        <p:spPr>
          <a:xfrm>
            <a:off x="347498" y="863600"/>
            <a:ext cx="8614103" cy="5305973"/>
          </a:xfrm>
        </p:spPr>
        <p:txBody>
          <a:bodyPr/>
          <a:lstStyle/>
          <a:p>
            <a:r>
              <a:rPr lang="en-US" b="1" i="0" dirty="0">
                <a:solidFill>
                  <a:srgbClr val="0E191E"/>
                </a:solidFill>
                <a:effectLst/>
                <a:latin typeface="brother-1816"/>
              </a:rPr>
              <a:t>Marketplace</a:t>
            </a:r>
            <a:r>
              <a:rPr lang="en-US" b="0" i="0" dirty="0">
                <a:solidFill>
                  <a:srgbClr val="0E191E"/>
                </a:solidFill>
                <a:effectLst/>
                <a:latin typeface="brother-1816"/>
              </a:rPr>
              <a:t> – A collection of pre-built, validated and trusted apps specifically built for GW platform.</a:t>
            </a:r>
          </a:p>
          <a:p>
            <a:r>
              <a:rPr lang="en-US" b="1" dirty="0" err="1">
                <a:solidFill>
                  <a:srgbClr val="0E191E"/>
                </a:solidFill>
                <a:latin typeface="brother-1816"/>
              </a:rPr>
              <a:t>PartnerConnect</a:t>
            </a:r>
            <a:r>
              <a:rPr lang="en-US" b="1" dirty="0">
                <a:solidFill>
                  <a:srgbClr val="0E191E"/>
                </a:solidFill>
                <a:latin typeface="brother-1816"/>
              </a:rPr>
              <a:t> </a:t>
            </a:r>
            <a:r>
              <a:rPr lang="en-US" b="0" i="0" dirty="0">
                <a:solidFill>
                  <a:srgbClr val="0E191E"/>
                </a:solidFill>
                <a:effectLst/>
                <a:latin typeface="brother-1816"/>
              </a:rPr>
              <a:t>brings together more than 10,000 technology consultants, systems integrators, and solution providers</a:t>
            </a:r>
          </a:p>
          <a:p>
            <a:r>
              <a:rPr lang="en-US" b="1" i="0" dirty="0">
                <a:solidFill>
                  <a:srgbClr val="0E191E"/>
                </a:solidFill>
                <a:effectLst/>
                <a:latin typeface="brother-1816"/>
              </a:rPr>
              <a:t>Insurtech Vanguards </a:t>
            </a:r>
            <a:r>
              <a:rPr lang="en-US" i="0" dirty="0">
                <a:solidFill>
                  <a:srgbClr val="0E191E"/>
                </a:solidFill>
                <a:effectLst/>
                <a:latin typeface="brother-1816"/>
              </a:rPr>
              <a:t>is a</a:t>
            </a:r>
            <a:r>
              <a:rPr lang="en-US" b="1" i="0" dirty="0">
                <a:solidFill>
                  <a:srgbClr val="0E191E"/>
                </a:solidFill>
                <a:effectLst/>
                <a:latin typeface="brother-1816"/>
              </a:rPr>
              <a:t> </a:t>
            </a:r>
            <a:r>
              <a:rPr lang="en-US" i="0" dirty="0">
                <a:solidFill>
                  <a:srgbClr val="0E191E"/>
                </a:solidFill>
                <a:effectLst/>
                <a:latin typeface="brother-1816"/>
              </a:rPr>
              <a:t>Guidewire initiative to help insurers learn about the hottest-new </a:t>
            </a:r>
            <a:r>
              <a:rPr lang="en-US" i="0" dirty="0" err="1">
                <a:solidFill>
                  <a:srgbClr val="0E191E"/>
                </a:solidFill>
                <a:effectLst/>
                <a:latin typeface="brother-1816"/>
              </a:rPr>
              <a:t>insurtechs</a:t>
            </a:r>
            <a:r>
              <a:rPr lang="en-US" i="0" dirty="0">
                <a:solidFill>
                  <a:srgbClr val="0E191E"/>
                </a:solidFill>
                <a:effectLst/>
                <a:latin typeface="brother-1816"/>
              </a:rPr>
              <a:t> — and how to leverage them — faster and easier</a:t>
            </a:r>
          </a:p>
          <a:p>
            <a:r>
              <a:rPr lang="en-US" b="1" dirty="0">
                <a:solidFill>
                  <a:srgbClr val="0E191E"/>
                </a:solidFill>
                <a:latin typeface="brother-1816"/>
              </a:rPr>
              <a:t>Guidewire Ventures </a:t>
            </a:r>
            <a:r>
              <a:rPr lang="en-US" dirty="0">
                <a:solidFill>
                  <a:srgbClr val="0E191E"/>
                </a:solidFill>
                <a:latin typeface="brother-1816"/>
              </a:rPr>
              <a:t>supports companies across insurance ecosystem that offer innovative solutions to GW customer base</a:t>
            </a:r>
            <a:endParaRPr lang="en-US" i="0" dirty="0">
              <a:solidFill>
                <a:srgbClr val="0E191E"/>
              </a:solidFill>
              <a:effectLst/>
              <a:latin typeface="brother-1816"/>
            </a:endParaRPr>
          </a:p>
          <a:p>
            <a:r>
              <a:rPr lang="en-US" b="1" dirty="0">
                <a:solidFill>
                  <a:srgbClr val="0E191E"/>
                </a:solidFill>
                <a:latin typeface="brother-1816"/>
              </a:rPr>
              <a:t>Guidewire Community, Education, Documentation</a:t>
            </a:r>
            <a:endParaRPr lang="en-US" i="0" dirty="0">
              <a:solidFill>
                <a:srgbClr val="0E191E"/>
              </a:solidFill>
              <a:effectLst/>
              <a:latin typeface="brother-1816"/>
            </a:endParaRPr>
          </a:p>
          <a:p>
            <a:pPr marL="0" indent="0">
              <a:buNone/>
            </a:pPr>
            <a:endParaRPr lang="en-US" b="0" i="0" dirty="0">
              <a:solidFill>
                <a:srgbClr val="0E191E"/>
              </a:solidFill>
              <a:effectLst/>
              <a:latin typeface="brother-1816"/>
            </a:endParaRPr>
          </a:p>
          <a:p>
            <a:endParaRPr lang="en-US" dirty="0">
              <a:solidFill>
                <a:srgbClr val="424242"/>
              </a:solidFill>
              <a:latin typeface="Gartner sans"/>
            </a:endParaRPr>
          </a:p>
        </p:txBody>
      </p:sp>
    </p:spTree>
    <p:extLst>
      <p:ext uri="{BB962C8B-B14F-4D97-AF65-F5344CB8AC3E}">
        <p14:creationId xmlns:p14="http://schemas.microsoft.com/office/powerpoint/2010/main" val="259770062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825500" y="120650"/>
            <a:ext cx="8318500" cy="742950"/>
          </a:xfrm>
        </p:spPr>
        <p:txBody>
          <a:bodyPr/>
          <a:lstStyle/>
          <a:p>
            <a:pPr eaLnBrk="1" hangingPunct="1"/>
            <a:r>
              <a:rPr lang="en-US"/>
              <a:t>Lesson outline</a:t>
            </a:r>
          </a:p>
        </p:txBody>
      </p:sp>
      <p:sp>
        <p:nvSpPr>
          <p:cNvPr id="5123" name="Rectangle 3"/>
          <p:cNvSpPr>
            <a:spLocks noGrp="1" noChangeArrowheads="1"/>
          </p:cNvSpPr>
          <p:nvPr>
            <p:ph type="body" idx="4294967295"/>
          </p:nvPr>
        </p:nvSpPr>
        <p:spPr bwMode="gray">
          <a:xfrm>
            <a:off x="482600" y="681038"/>
            <a:ext cx="8318500" cy="5708650"/>
          </a:xfrm>
        </p:spPr>
        <p:txBody>
          <a:bodyPr/>
          <a:lstStyle/>
          <a:p>
            <a:pPr>
              <a:lnSpc>
                <a:spcPct val="150000"/>
              </a:lnSpc>
            </a:pPr>
            <a:r>
              <a:rPr lang="en-US" sz="2800" dirty="0">
                <a:solidFill>
                  <a:schemeClr val="hlink"/>
                </a:solidFill>
              </a:rPr>
              <a:t>Guidewire Organization</a:t>
            </a:r>
          </a:p>
          <a:p>
            <a:pPr>
              <a:lnSpc>
                <a:spcPct val="150000"/>
              </a:lnSpc>
            </a:pPr>
            <a:r>
              <a:rPr lang="en-US" sz="2800" dirty="0">
                <a:solidFill>
                  <a:schemeClr val="hlink"/>
                </a:solidFill>
              </a:rPr>
              <a:t>Guidewire Products</a:t>
            </a:r>
          </a:p>
          <a:p>
            <a:pPr>
              <a:lnSpc>
                <a:spcPct val="150000"/>
              </a:lnSpc>
            </a:pPr>
            <a:r>
              <a:rPr lang="en-US" sz="2800" dirty="0"/>
              <a:t>Guidewire Core suite landscape</a:t>
            </a:r>
          </a:p>
          <a:p>
            <a:pPr>
              <a:lnSpc>
                <a:spcPct val="150000"/>
              </a:lnSpc>
            </a:pPr>
            <a:r>
              <a:rPr lang="en-US" sz="2800" dirty="0">
                <a:solidFill>
                  <a:schemeClr val="hlink"/>
                </a:solidFill>
              </a:rPr>
              <a:t>Typical integrations to Guidewire</a:t>
            </a:r>
          </a:p>
          <a:p>
            <a:endParaRPr lang="en-US" sz="2800" dirty="0"/>
          </a:p>
        </p:txBody>
      </p:sp>
    </p:spTree>
    <p:extLst>
      <p:ext uri="{BB962C8B-B14F-4D97-AF65-F5344CB8AC3E}">
        <p14:creationId xmlns:p14="http://schemas.microsoft.com/office/powerpoint/2010/main" val="267591617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Guidewire product landscape</a:t>
            </a:r>
          </a:p>
        </p:txBody>
      </p:sp>
      <p:sp>
        <p:nvSpPr>
          <p:cNvPr id="12" name="Content Placeholder 11"/>
          <p:cNvSpPr>
            <a:spLocks noGrp="1"/>
          </p:cNvSpPr>
          <p:nvPr>
            <p:ph idx="1"/>
          </p:nvPr>
        </p:nvSpPr>
        <p:spPr/>
        <p:txBody>
          <a:bodyPr/>
          <a:lstStyle/>
          <a:p>
            <a:r>
              <a:rPr lang="en-US" dirty="0"/>
              <a:t>Guidewire provides core systems used by carriers as operational systems of record</a:t>
            </a:r>
          </a:p>
        </p:txBody>
      </p:sp>
      <p:grpSp>
        <p:nvGrpSpPr>
          <p:cNvPr id="9" name="Group 8"/>
          <p:cNvGrpSpPr/>
          <p:nvPr/>
        </p:nvGrpSpPr>
        <p:grpSpPr>
          <a:xfrm>
            <a:off x="2362200" y="1971675"/>
            <a:ext cx="4371975" cy="4371975"/>
            <a:chOff x="2362200" y="1971675"/>
            <a:chExt cx="4371975" cy="4371975"/>
          </a:xfrm>
        </p:grpSpPr>
        <p:sp>
          <p:nvSpPr>
            <p:cNvPr id="3" name="Oval 2"/>
            <p:cNvSpPr/>
            <p:nvPr/>
          </p:nvSpPr>
          <p:spPr bwMode="auto">
            <a:xfrm>
              <a:off x="2362200" y="1971675"/>
              <a:ext cx="4371975" cy="4371975"/>
            </a:xfrm>
            <a:prstGeom prst="ellipse">
              <a:avLst/>
            </a:prstGeom>
            <a:noFill/>
            <a:ln w="28575" algn="ctr">
              <a:solidFill>
                <a:srgbClr val="04628C"/>
              </a:solidFill>
              <a:round/>
              <a:headEnd/>
              <a:tailEnd/>
            </a:ln>
          </p:spPr>
          <p:txBody>
            <a:bodyPr wrap="none" lIns="0" tIns="0" rIns="0" bIns="0" rtlCol="0" anchor="ctr">
              <a:prstTxWarp prst="textArchUp">
                <a:avLst/>
              </a:prstTxWarp>
              <a:noAutofit/>
              <a:scene3d>
                <a:camera prst="isometricRightUp"/>
                <a:lightRig rig="threePt" dir="t"/>
              </a:scene3d>
              <a:flatTx/>
            </a:bodyPr>
            <a:lstStyle/>
            <a:p>
              <a:pPr>
                <a:buClr>
                  <a:srgbClr val="FFFFFF"/>
                </a:buClr>
              </a:pPr>
              <a:r>
                <a:rPr lang="en-US" sz="1800" b="0" dirty="0">
                  <a:solidFill>
                    <a:srgbClr val="000000"/>
                  </a:solidFill>
                  <a:latin typeface="Arial Black" pitchFamily="34" charset="0"/>
                </a:rPr>
                <a:t>Core Operations Support</a:t>
              </a:r>
            </a:p>
          </p:txBody>
        </p:sp>
        <p:sp>
          <p:nvSpPr>
            <p:cNvPr id="5" name="TextBox 4"/>
            <p:cNvSpPr txBox="1"/>
            <p:nvPr/>
          </p:nvSpPr>
          <p:spPr>
            <a:xfrm>
              <a:off x="2668333" y="3829050"/>
              <a:ext cx="3759708" cy="1733550"/>
            </a:xfrm>
            <a:prstGeom prst="rect">
              <a:avLst/>
            </a:prstGeom>
            <a:noFill/>
          </p:spPr>
          <p:txBody>
            <a:bodyPr wrap="none" rtlCol="0">
              <a:prstTxWarp prst="textArchDown">
                <a:avLst/>
              </a:prstTxWarp>
              <a:spAutoFit/>
            </a:bodyPr>
            <a:lstStyle/>
            <a:p>
              <a:pPr>
                <a:buClr>
                  <a:srgbClr val="FFFFFF"/>
                </a:buClr>
              </a:pPr>
              <a:r>
                <a:rPr lang="en-US" sz="1800" b="0" dirty="0">
                  <a:solidFill>
                    <a:srgbClr val="000000"/>
                  </a:solidFill>
                  <a:latin typeface="Arial Black" pitchFamily="34" charset="0"/>
                  <a:cs typeface="Calibri" pitchFamily="34" charset="0"/>
                </a:rPr>
                <a:t>Data Management &amp; </a:t>
              </a:r>
              <a:br>
                <a:rPr lang="en-US" sz="1800" b="0" dirty="0">
                  <a:solidFill>
                    <a:srgbClr val="000000"/>
                  </a:solidFill>
                  <a:latin typeface="Arial Black" pitchFamily="34" charset="0"/>
                  <a:cs typeface="Calibri" pitchFamily="34" charset="0"/>
                </a:rPr>
              </a:br>
              <a:r>
                <a:rPr lang="en-US" sz="1800" b="0" dirty="0">
                  <a:solidFill>
                    <a:srgbClr val="000000"/>
                  </a:solidFill>
                  <a:latin typeface="Arial Black" pitchFamily="34" charset="0"/>
                  <a:cs typeface="Calibri" pitchFamily="34" charset="0"/>
                </a:rPr>
                <a:t>Business Intelligence</a:t>
              </a:r>
            </a:p>
          </p:txBody>
        </p:sp>
        <p:sp>
          <p:nvSpPr>
            <p:cNvPr id="6" name="Rectangle 5"/>
            <p:cNvSpPr/>
            <p:nvPr/>
          </p:nvSpPr>
          <p:spPr>
            <a:xfrm>
              <a:off x="2571293" y="4003773"/>
              <a:ext cx="4001415" cy="400110"/>
            </a:xfrm>
            <a:prstGeom prst="rect">
              <a:avLst/>
            </a:prstGeom>
          </p:spPr>
          <p:txBody>
            <a:bodyPr wrap="none">
              <a:spAutoFit/>
            </a:bodyPr>
            <a:lstStyle/>
            <a:p>
              <a:pPr>
                <a:buClr>
                  <a:srgbClr val="FFFFFF"/>
                </a:buClr>
              </a:pPr>
              <a:r>
                <a:rPr lang="en-US" dirty="0">
                  <a:solidFill>
                    <a:srgbClr val="04628C"/>
                  </a:solidFill>
                  <a:latin typeface="Arial" pitchFamily="34" charset="0"/>
                  <a:cs typeface="Arial" pitchFamily="34" charset="0"/>
                </a:rPr>
                <a:t>Operational Systems of Record</a:t>
              </a:r>
            </a:p>
          </p:txBody>
        </p:sp>
      </p:grpSp>
      <p:grpSp>
        <p:nvGrpSpPr>
          <p:cNvPr id="13" name="Group 12"/>
          <p:cNvGrpSpPr/>
          <p:nvPr/>
        </p:nvGrpSpPr>
        <p:grpSpPr>
          <a:xfrm>
            <a:off x="694213" y="2786062"/>
            <a:ext cx="1667987" cy="2743200"/>
            <a:chOff x="737302" y="2903537"/>
            <a:chExt cx="1667987" cy="2743200"/>
          </a:xfrm>
        </p:grpSpPr>
        <p:sp>
          <p:nvSpPr>
            <p:cNvPr id="7" name="Freeform 6"/>
            <p:cNvSpPr>
              <a:spLocks/>
            </p:cNvSpPr>
            <p:nvPr/>
          </p:nvSpPr>
          <p:spPr bwMode="auto">
            <a:xfrm>
              <a:off x="737302" y="2903537"/>
              <a:ext cx="1667987" cy="2743200"/>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pPr>
                <a:buClr>
                  <a:srgbClr val="FFFFFF"/>
                </a:buClr>
              </a:pPr>
              <a:endParaRPr lang="en-US" sz="1400" b="0">
                <a:solidFill>
                  <a:srgbClr val="000000"/>
                </a:solidFill>
              </a:endParaRPr>
            </a:p>
          </p:txBody>
        </p:sp>
        <p:sp>
          <p:nvSpPr>
            <p:cNvPr id="10" name="Rectangle 9"/>
            <p:cNvSpPr/>
            <p:nvPr/>
          </p:nvSpPr>
          <p:spPr>
            <a:xfrm>
              <a:off x="931386" y="3967361"/>
              <a:ext cx="1146468" cy="563231"/>
            </a:xfrm>
            <a:prstGeom prst="rect">
              <a:avLst/>
            </a:prstGeom>
          </p:spPr>
          <p:txBody>
            <a:bodyPr wrap="none">
              <a:spAutoFit/>
            </a:bodyPr>
            <a:lstStyle/>
            <a:p>
              <a:pPr>
                <a:lnSpc>
                  <a:spcPct val="85000"/>
                </a:lnSpc>
                <a:buClr>
                  <a:srgbClr val="FFFFFF"/>
                </a:buClr>
              </a:pPr>
              <a: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t>External</a:t>
              </a:r>
              <a:b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br>
              <a: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t>Access</a:t>
              </a:r>
            </a:p>
          </p:txBody>
        </p:sp>
      </p:grpSp>
      <p:grpSp>
        <p:nvGrpSpPr>
          <p:cNvPr id="14" name="Group 13"/>
          <p:cNvGrpSpPr/>
          <p:nvPr/>
        </p:nvGrpSpPr>
        <p:grpSpPr>
          <a:xfrm>
            <a:off x="6738378" y="2786062"/>
            <a:ext cx="1667987" cy="2743200"/>
            <a:chOff x="6766953" y="2903537"/>
            <a:chExt cx="1667987" cy="2743200"/>
          </a:xfrm>
        </p:grpSpPr>
        <p:sp>
          <p:nvSpPr>
            <p:cNvPr id="8" name="Freeform 6"/>
            <p:cNvSpPr>
              <a:spLocks/>
            </p:cNvSpPr>
            <p:nvPr/>
          </p:nvSpPr>
          <p:spPr bwMode="auto">
            <a:xfrm flipH="1">
              <a:off x="6766953" y="2903537"/>
              <a:ext cx="1667987" cy="2743200"/>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pPr>
                <a:buClr>
                  <a:srgbClr val="FFFFFF"/>
                </a:buClr>
              </a:pPr>
              <a:endParaRPr lang="en-US" sz="1400" b="0">
                <a:solidFill>
                  <a:srgbClr val="000000"/>
                </a:solidFill>
              </a:endParaRPr>
            </a:p>
          </p:txBody>
        </p:sp>
        <p:sp>
          <p:nvSpPr>
            <p:cNvPr id="11" name="Rectangle 10"/>
            <p:cNvSpPr/>
            <p:nvPr/>
          </p:nvSpPr>
          <p:spPr>
            <a:xfrm>
              <a:off x="6890403" y="3967361"/>
              <a:ext cx="1531188" cy="563231"/>
            </a:xfrm>
            <a:prstGeom prst="rect">
              <a:avLst/>
            </a:prstGeom>
          </p:spPr>
          <p:txBody>
            <a:bodyPr wrap="none">
              <a:spAutoFit/>
            </a:bodyPr>
            <a:lstStyle/>
            <a:p>
              <a:pPr>
                <a:lnSpc>
                  <a:spcPct val="85000"/>
                </a:lnSpc>
                <a:buClr>
                  <a:srgbClr val="FFFFFF"/>
                </a:buClr>
              </a:pPr>
              <a: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t>Monitoring</a:t>
              </a:r>
              <a:b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br>
              <a: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t>&amp; Guidance</a:t>
              </a:r>
            </a:p>
          </p:txBody>
        </p:sp>
      </p:grpSp>
    </p:spTree>
    <p:extLst>
      <p:ext uri="{BB962C8B-B14F-4D97-AF65-F5344CB8AC3E}">
        <p14:creationId xmlns:p14="http://schemas.microsoft.com/office/powerpoint/2010/main" val="174342838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Guidewire Core</a:t>
            </a:r>
          </a:p>
        </p:txBody>
      </p:sp>
      <p:sp>
        <p:nvSpPr>
          <p:cNvPr id="3" name="Oval 2"/>
          <p:cNvSpPr/>
          <p:nvPr/>
        </p:nvSpPr>
        <p:spPr bwMode="auto">
          <a:xfrm>
            <a:off x="1971675" y="758365"/>
            <a:ext cx="5356686" cy="5356686"/>
          </a:xfrm>
          <a:prstGeom prst="ellipse">
            <a:avLst/>
          </a:prstGeom>
          <a:noFill/>
          <a:ln w="28575" algn="ctr">
            <a:solidFill>
              <a:srgbClr val="04628C"/>
            </a:solidFill>
            <a:round/>
            <a:headEnd/>
            <a:tailEnd/>
          </a:ln>
        </p:spPr>
        <p:txBody>
          <a:bodyPr wrap="none" lIns="0" tIns="0" rIns="0" bIns="0" rtlCol="0" anchor="ctr">
            <a:prstTxWarp prst="textArchUp">
              <a:avLst/>
            </a:prstTxWarp>
            <a:noAutofit/>
            <a:scene3d>
              <a:camera prst="isometricRightUp"/>
              <a:lightRig rig="threePt" dir="t"/>
            </a:scene3d>
            <a:flatTx/>
          </a:bodyPr>
          <a:lstStyle/>
          <a:p>
            <a:pPr>
              <a:buClr>
                <a:srgbClr val="FFFFFF"/>
              </a:buClr>
            </a:pPr>
            <a:endParaRPr lang="en-US" sz="1800" b="0" dirty="0">
              <a:solidFill>
                <a:srgbClr val="000000"/>
              </a:solidFill>
              <a:latin typeface="Arial Black" pitchFamily="34" charset="0"/>
            </a:endParaRPr>
          </a:p>
        </p:txBody>
      </p:sp>
      <p:sp>
        <p:nvSpPr>
          <p:cNvPr id="7" name="Freeform 6"/>
          <p:cNvSpPr>
            <a:spLocks/>
          </p:cNvSpPr>
          <p:nvPr/>
        </p:nvSpPr>
        <p:spPr bwMode="auto">
          <a:xfrm>
            <a:off x="251527" y="1752279"/>
            <a:ext cx="1790998" cy="3361058"/>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pPr>
              <a:buClr>
                <a:srgbClr val="FFFFFF"/>
              </a:buClr>
            </a:pPr>
            <a:endParaRPr lang="en-US" sz="1400" b="0">
              <a:solidFill>
                <a:srgbClr val="000000"/>
              </a:solidFill>
            </a:endParaRPr>
          </a:p>
        </p:txBody>
      </p:sp>
      <p:sp>
        <p:nvSpPr>
          <p:cNvPr id="8" name="Freeform 6"/>
          <p:cNvSpPr>
            <a:spLocks/>
          </p:cNvSpPr>
          <p:nvPr/>
        </p:nvSpPr>
        <p:spPr bwMode="auto">
          <a:xfrm flipH="1">
            <a:off x="7262252" y="1752279"/>
            <a:ext cx="1792224" cy="3361058"/>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pPr>
              <a:buClr>
                <a:srgbClr val="FFFFFF"/>
              </a:buClr>
            </a:pPr>
            <a:endParaRPr lang="en-US" sz="1400" b="0">
              <a:solidFill>
                <a:srgbClr val="000000"/>
              </a:solidFill>
            </a:endParaRPr>
          </a:p>
        </p:txBody>
      </p:sp>
      <p:sp>
        <p:nvSpPr>
          <p:cNvPr id="10" name="Rectangle 9"/>
          <p:cNvSpPr/>
          <p:nvPr/>
        </p:nvSpPr>
        <p:spPr>
          <a:xfrm>
            <a:off x="203902" y="2912730"/>
            <a:ext cx="1790998" cy="563231"/>
          </a:xfrm>
          <a:prstGeom prst="rect">
            <a:avLst/>
          </a:prstGeom>
        </p:spPr>
        <p:txBody>
          <a:bodyPr wrap="square">
            <a:spAutoFit/>
          </a:bodyPr>
          <a:lstStyle/>
          <a:p>
            <a:pPr>
              <a:lnSpc>
                <a:spcPct val="85000"/>
              </a:lnSpc>
              <a:buClr>
                <a:srgbClr val="FFFFFF"/>
              </a:buClr>
            </a:pPr>
            <a: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t>Mobile &amp; Portals</a:t>
            </a:r>
          </a:p>
        </p:txBody>
      </p:sp>
      <p:sp>
        <p:nvSpPr>
          <p:cNvPr id="11" name="Rectangle 10"/>
          <p:cNvSpPr/>
          <p:nvPr/>
        </p:nvSpPr>
        <p:spPr>
          <a:xfrm>
            <a:off x="7411353" y="2847644"/>
            <a:ext cx="1813212" cy="563231"/>
          </a:xfrm>
          <a:prstGeom prst="rect">
            <a:avLst/>
          </a:prstGeom>
        </p:spPr>
        <p:txBody>
          <a:bodyPr wrap="square">
            <a:spAutoFit/>
          </a:bodyPr>
          <a:lstStyle/>
          <a:p>
            <a:pPr>
              <a:lnSpc>
                <a:spcPct val="85000"/>
              </a:lnSpc>
              <a:buClr>
                <a:srgbClr val="FFFFFF"/>
              </a:buClr>
            </a:pPr>
            <a: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t>Guidewire</a:t>
            </a:r>
            <a:b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br>
            <a:r>
              <a:rPr lang="en-US" sz="1800" spc="50" dirty="0">
                <a:ln w="13500">
                  <a:solidFill>
                    <a:srgbClr val="003399">
                      <a:shade val="2500"/>
                      <a:alpha val="6500"/>
                    </a:srgbClr>
                  </a:solidFill>
                  <a:prstDash val="solid"/>
                </a:ln>
                <a:solidFill>
                  <a:srgbClr val="04628C">
                    <a:alpha val="95000"/>
                  </a:srgbClr>
                </a:solidFill>
                <a:effectLst>
                  <a:innerShdw blurRad="50900" dist="38500" dir="13500000">
                    <a:srgbClr val="000000">
                      <a:alpha val="60000"/>
                    </a:srgbClr>
                  </a:innerShdw>
                </a:effectLst>
                <a:latin typeface="Arial"/>
              </a:rPr>
              <a:t>Live</a:t>
            </a:r>
          </a:p>
        </p:txBody>
      </p:sp>
      <p:grpSp>
        <p:nvGrpSpPr>
          <p:cNvPr id="13" name="Group 12"/>
          <p:cNvGrpSpPr/>
          <p:nvPr/>
        </p:nvGrpSpPr>
        <p:grpSpPr>
          <a:xfrm>
            <a:off x="2917392" y="946610"/>
            <a:ext cx="3441047" cy="4684458"/>
            <a:chOff x="3105249" y="1714499"/>
            <a:chExt cx="2934954" cy="3995490"/>
          </a:xfrm>
        </p:grpSpPr>
        <p:grpSp>
          <p:nvGrpSpPr>
            <p:cNvPr id="14" name="Group 13"/>
            <p:cNvGrpSpPr/>
            <p:nvPr/>
          </p:nvGrpSpPr>
          <p:grpSpPr>
            <a:xfrm>
              <a:off x="3105249" y="1714499"/>
              <a:ext cx="2934954" cy="2442363"/>
              <a:chOff x="2928941" y="1978819"/>
              <a:chExt cx="3395658" cy="2825744"/>
            </a:xfrm>
          </p:grpSpPr>
          <p:pic>
            <p:nvPicPr>
              <p:cNvPr id="21" name="Picture 20"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11724" y="3391691"/>
                <a:ext cx="1412875" cy="141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descr="billing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28941" y="3391691"/>
                <a:ext cx="1412872" cy="141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2" descr="policy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67991" y="1978819"/>
                <a:ext cx="1408018" cy="141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Rectangle 14"/>
            <p:cNvSpPr/>
            <p:nvPr/>
          </p:nvSpPr>
          <p:spPr bwMode="auto">
            <a:xfrm>
              <a:off x="3342306" y="4459680"/>
              <a:ext cx="1221181" cy="1221182"/>
            </a:xfrm>
            <a:prstGeom prst="rect">
              <a:avLst/>
            </a:prstGeom>
            <a:gradFill flip="none" rotWithShape="1">
              <a:gsLst>
                <a:gs pos="0">
                  <a:schemeClr val="tx1">
                    <a:lumMod val="65000"/>
                    <a:tint val="66000"/>
                    <a:satMod val="160000"/>
                  </a:schemeClr>
                </a:gs>
                <a:gs pos="50000">
                  <a:schemeClr val="tx1">
                    <a:lumMod val="65000"/>
                    <a:tint val="44500"/>
                    <a:satMod val="160000"/>
                  </a:schemeClr>
                </a:gs>
                <a:gs pos="100000">
                  <a:schemeClr val="tx1">
                    <a:lumMod val="65000"/>
                    <a:tint val="23500"/>
                    <a:satMod val="160000"/>
                  </a:schemeClr>
                </a:gs>
              </a:gsLst>
              <a:lin ang="8100000" scaled="1"/>
              <a:tileRect/>
            </a:gradFill>
            <a:ln w="19050" algn="ctr">
              <a:noFill/>
              <a:round/>
              <a:headEnd/>
              <a:tailEnd/>
            </a:ln>
          </p:spPr>
          <p:txBody>
            <a:bodyPr wrap="none" lIns="0" tIns="0" rIns="0" bIns="0" rtlCol="0" anchor="ctr">
              <a:noAutofit/>
            </a:bodyPr>
            <a:lstStyle/>
            <a:p>
              <a:pPr>
                <a:buClr>
                  <a:srgbClr val="FFFFFF"/>
                </a:buClr>
              </a:pPr>
              <a:endParaRPr lang="en-US" sz="1400" b="0">
                <a:solidFill>
                  <a:srgbClr val="000000"/>
                </a:solidFill>
              </a:endParaRPr>
            </a:p>
          </p:txBody>
        </p:sp>
        <p:sp>
          <p:nvSpPr>
            <p:cNvPr id="16" name="Rectangle 15"/>
            <p:cNvSpPr/>
            <p:nvPr/>
          </p:nvSpPr>
          <p:spPr bwMode="auto">
            <a:xfrm>
              <a:off x="3344505" y="4459680"/>
              <a:ext cx="266679" cy="1221181"/>
            </a:xfrm>
            <a:prstGeom prst="rect">
              <a:avLst/>
            </a:prstGeom>
            <a:gradFill flip="none" rotWithShape="1">
              <a:gsLst>
                <a:gs pos="0">
                  <a:schemeClr val="bg1">
                    <a:lumMod val="65000"/>
                    <a:lumOff val="35000"/>
                    <a:tint val="66000"/>
                    <a:satMod val="160000"/>
                  </a:schemeClr>
                </a:gs>
                <a:gs pos="50000">
                  <a:schemeClr val="bg1">
                    <a:lumMod val="65000"/>
                    <a:lumOff val="35000"/>
                    <a:tint val="44500"/>
                    <a:satMod val="160000"/>
                  </a:schemeClr>
                </a:gs>
                <a:gs pos="100000">
                  <a:schemeClr val="bg1">
                    <a:lumMod val="65000"/>
                    <a:lumOff val="35000"/>
                    <a:tint val="23500"/>
                    <a:satMod val="160000"/>
                  </a:schemeClr>
                </a:gs>
              </a:gsLst>
              <a:lin ang="8100000" scaled="1"/>
              <a:tileRect/>
            </a:gradFill>
            <a:ln w="19050" algn="ctr">
              <a:noFill/>
              <a:round/>
              <a:headEnd/>
              <a:tailEnd/>
            </a:ln>
          </p:spPr>
          <p:txBody>
            <a:bodyPr wrap="none" lIns="0" tIns="0" rIns="0" bIns="0" rtlCol="0" anchor="ctr">
              <a:noAutofit/>
            </a:bodyPr>
            <a:lstStyle/>
            <a:p>
              <a:pPr>
                <a:buClr>
                  <a:srgbClr val="FFFFFF"/>
                </a:buClr>
              </a:pPr>
              <a:endParaRPr lang="en-US" sz="1400">
                <a:ln w="18000">
                  <a:solidFill>
                    <a:srgbClr val="FF9933">
                      <a:satMod val="140000"/>
                    </a:srgbClr>
                  </a:solidFill>
                  <a:prstDash val="solid"/>
                  <a:miter lim="800000"/>
                </a:ln>
                <a:noFill/>
                <a:effectLst>
                  <a:outerShdw blurRad="25500" dist="23000" dir="7020000" algn="tl">
                    <a:srgbClr val="000000">
                      <a:alpha val="50000"/>
                    </a:srgbClr>
                  </a:outerShdw>
                </a:effectLst>
              </a:endParaRPr>
            </a:p>
          </p:txBody>
        </p:sp>
        <p:sp>
          <p:nvSpPr>
            <p:cNvPr id="17" name="TextBox 16"/>
            <p:cNvSpPr txBox="1"/>
            <p:nvPr/>
          </p:nvSpPr>
          <p:spPr>
            <a:xfrm>
              <a:off x="3342306" y="5324026"/>
              <a:ext cx="1194558" cy="369332"/>
            </a:xfrm>
            <a:prstGeom prst="rect">
              <a:avLst/>
            </a:prstGeom>
            <a:noFill/>
            <a:effectLst>
              <a:glow rad="63500">
                <a:schemeClr val="accent1">
                  <a:satMod val="175000"/>
                  <a:alpha val="40000"/>
                </a:schemeClr>
              </a:glow>
            </a:effectLst>
          </p:spPr>
          <p:txBody>
            <a:bodyPr wrap="none" rtlCol="0">
              <a:spAutoFit/>
            </a:bodyPr>
            <a:lstStyle/>
            <a:p>
              <a:pPr>
                <a:buClr>
                  <a:srgbClr val="FFFFFF"/>
                </a:buClr>
              </a:pPr>
              <a:r>
                <a:rPr lang="en-US" sz="1800" dirty="0">
                  <a:solidFill>
                    <a:srgbClr val="FFFFFF">
                      <a:lumMod val="50000"/>
                    </a:srgbClr>
                  </a:solidFill>
                  <a:latin typeface="Calibri" pitchFamily="34" charset="0"/>
                  <a:cs typeface="Calibri" pitchFamily="34" charset="0"/>
                </a:rPr>
                <a:t>InfoCenter</a:t>
              </a:r>
            </a:p>
          </p:txBody>
        </p:sp>
        <p:sp>
          <p:nvSpPr>
            <p:cNvPr id="18" name="Can 17"/>
            <p:cNvSpPr/>
            <p:nvPr/>
          </p:nvSpPr>
          <p:spPr bwMode="auto">
            <a:xfrm>
              <a:off x="4657725" y="4459679"/>
              <a:ext cx="1228725" cy="1221182"/>
            </a:xfrm>
            <a:prstGeom prst="can">
              <a:avLst/>
            </a:prstGeom>
            <a:gradFill flip="none" rotWithShape="1">
              <a:gsLst>
                <a:gs pos="0">
                  <a:schemeClr val="tx1">
                    <a:lumMod val="85000"/>
                    <a:shade val="30000"/>
                    <a:satMod val="115000"/>
                  </a:schemeClr>
                </a:gs>
                <a:gs pos="50000">
                  <a:schemeClr val="tx1">
                    <a:lumMod val="85000"/>
                    <a:shade val="67500"/>
                    <a:satMod val="115000"/>
                  </a:schemeClr>
                </a:gs>
                <a:gs pos="100000">
                  <a:schemeClr val="tx1">
                    <a:lumMod val="85000"/>
                    <a:shade val="100000"/>
                    <a:satMod val="115000"/>
                  </a:schemeClr>
                </a:gs>
              </a:gsLst>
              <a:lin ang="10800000" scaled="1"/>
              <a:tileRect/>
            </a:gradFill>
            <a:ln w="19050" algn="ctr">
              <a:solidFill>
                <a:schemeClr val="tx1">
                  <a:lumMod val="50000"/>
                </a:schemeClr>
              </a:solidFill>
              <a:round/>
              <a:headEnd/>
              <a:tailEnd/>
            </a:ln>
          </p:spPr>
          <p:txBody>
            <a:bodyPr wrap="none" lIns="0" tIns="0" rIns="0" bIns="0" rtlCol="0" anchor="ctr">
              <a:noAutofit/>
            </a:bodyPr>
            <a:lstStyle/>
            <a:p>
              <a:pPr>
                <a:buClr>
                  <a:srgbClr val="FFFFFF"/>
                </a:buClr>
              </a:pPr>
              <a:endParaRPr lang="en-US" sz="1400" b="0">
                <a:solidFill>
                  <a:srgbClr val="000000"/>
                </a:solidFill>
              </a:endParaRPr>
            </a:p>
          </p:txBody>
        </p:sp>
        <p:sp>
          <p:nvSpPr>
            <p:cNvPr id="19" name="TextBox 18"/>
            <p:cNvSpPr txBox="1"/>
            <p:nvPr/>
          </p:nvSpPr>
          <p:spPr>
            <a:xfrm>
              <a:off x="4735623" y="5324026"/>
              <a:ext cx="1072925" cy="385963"/>
            </a:xfrm>
            <a:prstGeom prst="rect">
              <a:avLst/>
            </a:prstGeom>
            <a:noFill/>
            <a:effectLst>
              <a:glow rad="63500">
                <a:schemeClr val="accent1">
                  <a:satMod val="175000"/>
                  <a:alpha val="40000"/>
                </a:schemeClr>
              </a:glow>
            </a:effectLst>
          </p:spPr>
          <p:txBody>
            <a:bodyPr wrap="none" rtlCol="0">
              <a:spAutoFit/>
            </a:bodyPr>
            <a:lstStyle/>
            <a:p>
              <a:pPr>
                <a:buClr>
                  <a:srgbClr val="FFFFFF"/>
                </a:buClr>
              </a:pPr>
              <a:r>
                <a:rPr lang="en-US" sz="1800" dirty="0">
                  <a:solidFill>
                    <a:srgbClr val="696969"/>
                  </a:solidFill>
                  <a:latin typeface="Calibri" pitchFamily="34" charset="0"/>
                  <a:cs typeface="Calibri" pitchFamily="34" charset="0"/>
                </a:rPr>
                <a:t>DataHub</a:t>
              </a:r>
            </a:p>
          </p:txBody>
        </p:sp>
        <p:sp>
          <p:nvSpPr>
            <p:cNvPr id="20" name="Oval 19"/>
            <p:cNvSpPr/>
            <p:nvPr/>
          </p:nvSpPr>
          <p:spPr bwMode="auto">
            <a:xfrm>
              <a:off x="3344505" y="4459679"/>
              <a:ext cx="266679" cy="266679"/>
            </a:xfrm>
            <a:prstGeom prst="ellipse">
              <a:avLst/>
            </a:prstGeom>
            <a:gradFill flip="none" rotWithShape="1">
              <a:gsLst>
                <a:gs pos="0">
                  <a:schemeClr val="bg1">
                    <a:lumMod val="50000"/>
                    <a:lumOff val="50000"/>
                    <a:tint val="66000"/>
                    <a:satMod val="160000"/>
                  </a:schemeClr>
                </a:gs>
                <a:gs pos="50000">
                  <a:schemeClr val="bg1">
                    <a:lumMod val="50000"/>
                    <a:lumOff val="50000"/>
                    <a:tint val="44500"/>
                    <a:satMod val="160000"/>
                  </a:schemeClr>
                </a:gs>
                <a:gs pos="100000">
                  <a:schemeClr val="bg1">
                    <a:lumMod val="50000"/>
                    <a:lumOff val="50000"/>
                    <a:tint val="23500"/>
                    <a:satMod val="160000"/>
                  </a:schemeClr>
                </a:gs>
              </a:gsLst>
              <a:lin ang="5400000" scaled="1"/>
              <a:tileRect/>
            </a:gradFill>
            <a:ln w="19050" algn="ctr">
              <a:noFill/>
              <a:round/>
              <a:headEnd/>
              <a:tailEnd/>
            </a:ln>
          </p:spPr>
          <p:txBody>
            <a:bodyPr wrap="none" lIns="0" tIns="0" rIns="0" bIns="0" rtlCol="0" anchor="ctr">
              <a:noAutofit/>
            </a:bodyPr>
            <a:lstStyle/>
            <a:p>
              <a:pPr>
                <a:buClr>
                  <a:srgbClr val="FFFFFF"/>
                </a:buClr>
              </a:pPr>
              <a:endParaRPr lang="en-US" sz="1400" b="0">
                <a:solidFill>
                  <a:srgbClr val="000000"/>
                </a:solidFill>
              </a:endParaRPr>
            </a:p>
          </p:txBody>
        </p:sp>
      </p:grpSp>
      <p:pic>
        <p:nvPicPr>
          <p:cNvPr id="1026" name="Picture 2" descr="compa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7594" y="3582497"/>
            <a:ext cx="640080" cy="6400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laim canva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79874" y="4109547"/>
            <a:ext cx="640080" cy="6400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efore &amp; afte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61149" y="3381445"/>
            <a:ext cx="640080" cy="64008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free vector Tablet clip ar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680" y="3449018"/>
            <a:ext cx="1337438" cy="1150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83512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2"/>
          <p:cNvSpPr>
            <a:spLocks noChangeArrowheads="1"/>
          </p:cNvSpPr>
          <p:nvPr/>
        </p:nvSpPr>
        <p:spPr bwMode="auto">
          <a:xfrm>
            <a:off x="327025" y="1179513"/>
            <a:ext cx="2395538" cy="2863850"/>
          </a:xfrm>
          <a:prstGeom prst="rect">
            <a:avLst/>
          </a:prstGeom>
          <a:solidFill>
            <a:schemeClr val="tx1">
              <a:alpha val="50195"/>
            </a:schemeClr>
          </a:solidFill>
          <a:ln w="28575" algn="ctr">
            <a:solidFill>
              <a:schemeClr val="accent1"/>
            </a:solidFill>
            <a:miter lim="800000"/>
            <a:headEnd/>
            <a:tailEnd/>
          </a:ln>
        </p:spPr>
        <p:txBody>
          <a:bodyPr anchor="ctr"/>
          <a:lstStyle/>
          <a:p>
            <a:pPr>
              <a:buClr>
                <a:srgbClr val="FFFFFF"/>
              </a:buClr>
            </a:pPr>
            <a:endParaRPr lang="en-US" sz="1400" b="0">
              <a:solidFill>
                <a:srgbClr val="000000"/>
              </a:solidFill>
            </a:endParaRPr>
          </a:p>
        </p:txBody>
      </p:sp>
      <p:sp>
        <p:nvSpPr>
          <p:cNvPr id="11267" name="Rectangle 61"/>
          <p:cNvSpPr>
            <a:spLocks noChangeArrowheads="1"/>
          </p:cNvSpPr>
          <p:nvPr/>
        </p:nvSpPr>
        <p:spPr bwMode="auto">
          <a:xfrm>
            <a:off x="3030538" y="1857375"/>
            <a:ext cx="3017837" cy="1985963"/>
          </a:xfrm>
          <a:prstGeom prst="rect">
            <a:avLst/>
          </a:pr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pPr>
              <a:buClr>
                <a:srgbClr val="FFFFFF"/>
              </a:buClr>
            </a:pPr>
            <a:endParaRPr lang="en-US" sz="1400" b="0">
              <a:solidFill>
                <a:srgbClr val="000000"/>
              </a:solidFill>
            </a:endParaRPr>
          </a:p>
        </p:txBody>
      </p:sp>
      <p:sp>
        <p:nvSpPr>
          <p:cNvPr id="11268" name="Rectangle 34"/>
          <p:cNvSpPr>
            <a:spLocks noChangeArrowheads="1"/>
          </p:cNvSpPr>
          <p:nvPr/>
        </p:nvSpPr>
        <p:spPr bwMode="auto">
          <a:xfrm>
            <a:off x="2930525" y="1198563"/>
            <a:ext cx="3409950" cy="2830512"/>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buClr>
                <a:srgbClr val="FFFFFF"/>
              </a:buClr>
            </a:pPr>
            <a:endParaRPr lang="en-US" sz="1400" b="0">
              <a:solidFill>
                <a:srgbClr val="000000"/>
              </a:solidFill>
            </a:endParaRPr>
          </a:p>
        </p:txBody>
      </p:sp>
      <p:sp>
        <p:nvSpPr>
          <p:cNvPr id="11269" name="Text Box 35"/>
          <p:cNvSpPr txBox="1">
            <a:spLocks noChangeArrowheads="1"/>
          </p:cNvSpPr>
          <p:nvPr/>
        </p:nvSpPr>
        <p:spPr bwMode="invGray">
          <a:xfrm>
            <a:off x="2973388" y="1477963"/>
            <a:ext cx="326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000">
                <a:solidFill>
                  <a:srgbClr val="000000"/>
                </a:solidFill>
                <a:latin typeface="MetaPlusBook-Roman" pitchFamily="34" charset="0"/>
              </a:rPr>
              <a:t>Guidewire Application</a:t>
            </a:r>
          </a:p>
        </p:txBody>
      </p:sp>
      <p:sp>
        <p:nvSpPr>
          <p:cNvPr id="11273" name="Line 43"/>
          <p:cNvSpPr>
            <a:spLocks noChangeShapeType="1"/>
          </p:cNvSpPr>
          <p:nvPr/>
        </p:nvSpPr>
        <p:spPr bwMode="auto">
          <a:xfrm>
            <a:off x="5338763" y="3043238"/>
            <a:ext cx="1662112" cy="4143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pPr>
              <a:buClr>
                <a:srgbClr val="FFFFFF"/>
              </a:buClr>
            </a:pPr>
            <a:endParaRPr lang="en-US" sz="1400" b="0">
              <a:solidFill>
                <a:srgbClr val="000000"/>
              </a:solidFill>
            </a:endParaRPr>
          </a:p>
        </p:txBody>
      </p:sp>
      <p:sp>
        <p:nvSpPr>
          <p:cNvPr id="11274" name="Line 44"/>
          <p:cNvSpPr>
            <a:spLocks noChangeShapeType="1"/>
          </p:cNvSpPr>
          <p:nvPr/>
        </p:nvSpPr>
        <p:spPr bwMode="auto">
          <a:xfrm flipV="1">
            <a:off x="5349875" y="2770188"/>
            <a:ext cx="1508125" cy="460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pPr>
              <a:buClr>
                <a:srgbClr val="FFFFFF"/>
              </a:buClr>
            </a:pPr>
            <a:endParaRPr lang="en-US" sz="1400" b="0">
              <a:solidFill>
                <a:srgbClr val="000000"/>
              </a:solidFill>
            </a:endParaRPr>
          </a:p>
        </p:txBody>
      </p:sp>
      <p:sp>
        <p:nvSpPr>
          <p:cNvPr id="11275" name="Line 45"/>
          <p:cNvSpPr>
            <a:spLocks noChangeShapeType="1"/>
          </p:cNvSpPr>
          <p:nvPr/>
        </p:nvSpPr>
        <p:spPr bwMode="auto">
          <a:xfrm flipV="1">
            <a:off x="5349875" y="2100263"/>
            <a:ext cx="1336675" cy="488950"/>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pPr>
              <a:buClr>
                <a:srgbClr val="FFFFFF"/>
              </a:buClr>
            </a:pPr>
            <a:endParaRPr lang="en-US" sz="1400" b="0">
              <a:solidFill>
                <a:srgbClr val="000000"/>
              </a:solidFill>
            </a:endParaRPr>
          </a:p>
        </p:txBody>
      </p:sp>
      <p:sp>
        <p:nvSpPr>
          <p:cNvPr id="11277" name="AutoShape 7"/>
          <p:cNvSpPr>
            <a:spLocks noChangeArrowheads="1"/>
          </p:cNvSpPr>
          <p:nvPr/>
        </p:nvSpPr>
        <p:spPr bwMode="auto">
          <a:xfrm>
            <a:off x="949325" y="2222500"/>
            <a:ext cx="1085850" cy="893763"/>
          </a:xfrm>
          <a:prstGeom prst="can">
            <a:avLst>
              <a:gd name="adj" fmla="val 25000"/>
            </a:avLst>
          </a:prstGeom>
          <a:solidFill>
            <a:schemeClr val="bg2"/>
          </a:solidFill>
          <a:ln w="28575">
            <a:solidFill>
              <a:schemeClr val="bg1"/>
            </a:solidFill>
            <a:round/>
            <a:headEnd/>
            <a:tailEnd/>
          </a:ln>
        </p:spPr>
        <p:txBody>
          <a:bodyPr wrap="none" anchor="ctr"/>
          <a:lstStyle/>
          <a:p>
            <a:pPr>
              <a:buClr>
                <a:srgbClr val="FFFFFF"/>
              </a:buClr>
            </a:pPr>
            <a:endParaRPr lang="en-US" sz="1400" b="0">
              <a:solidFill>
                <a:srgbClr val="000000"/>
              </a:solidFill>
            </a:endParaRPr>
          </a:p>
        </p:txBody>
      </p:sp>
      <p:sp>
        <p:nvSpPr>
          <p:cNvPr id="11278" name="Text Box 11"/>
          <p:cNvSpPr txBox="1">
            <a:spLocks noChangeArrowheads="1"/>
          </p:cNvSpPr>
          <p:nvPr/>
        </p:nvSpPr>
        <p:spPr bwMode="auto">
          <a:xfrm>
            <a:off x="307975" y="1477963"/>
            <a:ext cx="23701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000">
                <a:solidFill>
                  <a:srgbClr val="000000"/>
                </a:solidFill>
                <a:latin typeface="MetaPlusBook-Roman" pitchFamily="34" charset="0"/>
              </a:rPr>
              <a:t>Operational</a:t>
            </a:r>
            <a:br>
              <a:rPr lang="en-US" sz="2000">
                <a:solidFill>
                  <a:srgbClr val="000000"/>
                </a:solidFill>
                <a:latin typeface="MetaPlusBook-Roman" pitchFamily="34" charset="0"/>
              </a:rPr>
            </a:br>
            <a:r>
              <a:rPr lang="en-US" sz="2000">
                <a:solidFill>
                  <a:srgbClr val="000000"/>
                </a:solidFill>
                <a:latin typeface="MetaPlusBook-Roman" pitchFamily="34" charset="0"/>
              </a:rPr>
              <a:t>Database</a:t>
            </a:r>
          </a:p>
        </p:txBody>
      </p:sp>
      <p:grpSp>
        <p:nvGrpSpPr>
          <p:cNvPr id="11279" name="Group 9"/>
          <p:cNvGrpSpPr>
            <a:grpSpLocks/>
          </p:cNvGrpSpPr>
          <p:nvPr/>
        </p:nvGrpSpPr>
        <p:grpSpPr bwMode="auto">
          <a:xfrm rot="5400000">
            <a:off x="8522495" y="5149056"/>
            <a:ext cx="106362" cy="441325"/>
            <a:chOff x="682" y="3110"/>
            <a:chExt cx="67" cy="278"/>
          </a:xfrm>
        </p:grpSpPr>
        <p:sp>
          <p:nvSpPr>
            <p:cNvPr id="11309" name="Oval 10"/>
            <p:cNvSpPr>
              <a:spLocks noChangeArrowheads="1"/>
            </p:cNvSpPr>
            <p:nvPr/>
          </p:nvSpPr>
          <p:spPr bwMode="auto">
            <a:xfrm>
              <a:off x="682" y="3110"/>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pPr>
                <a:buClr>
                  <a:srgbClr val="FFFFFF"/>
                </a:buClr>
              </a:pPr>
              <a:endParaRPr lang="en-US" sz="1400" b="0">
                <a:solidFill>
                  <a:srgbClr val="000000"/>
                </a:solidFill>
              </a:endParaRPr>
            </a:p>
          </p:txBody>
        </p:sp>
        <p:sp>
          <p:nvSpPr>
            <p:cNvPr id="11310" name="Oval 11"/>
            <p:cNvSpPr>
              <a:spLocks noChangeArrowheads="1"/>
            </p:cNvSpPr>
            <p:nvPr/>
          </p:nvSpPr>
          <p:spPr bwMode="auto">
            <a:xfrm>
              <a:off x="682" y="3215"/>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pPr>
                <a:buClr>
                  <a:srgbClr val="FFFFFF"/>
                </a:buClr>
              </a:pPr>
              <a:endParaRPr lang="en-US" sz="1400" b="0">
                <a:solidFill>
                  <a:srgbClr val="000000"/>
                </a:solidFill>
              </a:endParaRPr>
            </a:p>
          </p:txBody>
        </p:sp>
        <p:sp>
          <p:nvSpPr>
            <p:cNvPr id="11311" name="Oval 12"/>
            <p:cNvSpPr>
              <a:spLocks noChangeArrowheads="1"/>
            </p:cNvSpPr>
            <p:nvPr/>
          </p:nvSpPr>
          <p:spPr bwMode="auto">
            <a:xfrm>
              <a:off x="682" y="3321"/>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pPr>
                <a:buClr>
                  <a:srgbClr val="FFFFFF"/>
                </a:buClr>
              </a:pPr>
              <a:endParaRPr lang="en-US" sz="1400" b="0">
                <a:solidFill>
                  <a:srgbClr val="000000"/>
                </a:solidFill>
              </a:endParaRPr>
            </a:p>
          </p:txBody>
        </p:sp>
      </p:grpSp>
      <p:grpSp>
        <p:nvGrpSpPr>
          <p:cNvPr id="11280" name="Group 74"/>
          <p:cNvGrpSpPr>
            <a:grpSpLocks/>
          </p:cNvGrpSpPr>
          <p:nvPr/>
        </p:nvGrpSpPr>
        <p:grpSpPr bwMode="auto">
          <a:xfrm>
            <a:off x="901700" y="4462463"/>
            <a:ext cx="2322513" cy="931862"/>
            <a:chOff x="301624" y="4706938"/>
            <a:chExt cx="2322513" cy="931862"/>
          </a:xfrm>
        </p:grpSpPr>
        <p:sp>
          <p:nvSpPr>
            <p:cNvPr id="11306" name="Rectangle 64"/>
            <p:cNvSpPr>
              <a:spLocks noChangeArrowheads="1"/>
            </p:cNvSpPr>
            <p:nvPr/>
          </p:nvSpPr>
          <p:spPr bwMode="auto">
            <a:xfrm>
              <a:off x="301624" y="4710113"/>
              <a:ext cx="2293938" cy="928687"/>
            </a:xfrm>
            <a:prstGeom prst="rect">
              <a:avLst/>
            </a:prstGeom>
            <a:solidFill>
              <a:srgbClr val="FFFFFF"/>
            </a:solidFill>
            <a:ln w="28575" algn="ctr">
              <a:solidFill>
                <a:schemeClr val="accent1"/>
              </a:solidFill>
              <a:miter lim="800000"/>
              <a:headEnd/>
              <a:tailEnd/>
            </a:ln>
          </p:spPr>
          <p:txBody>
            <a:bodyPr anchor="ctr"/>
            <a:lstStyle/>
            <a:p>
              <a:pPr>
                <a:buClr>
                  <a:srgbClr val="FFFFFF"/>
                </a:buClr>
              </a:pPr>
              <a:endParaRPr lang="en-US" sz="1400" b="0">
                <a:solidFill>
                  <a:srgbClr val="000000"/>
                </a:solidFill>
              </a:endParaRPr>
            </a:p>
          </p:txBody>
        </p:sp>
        <p:sp>
          <p:nvSpPr>
            <p:cNvPr id="11307" name="Text Box 27"/>
            <p:cNvSpPr txBox="1">
              <a:spLocks noChangeArrowheads="1"/>
            </p:cNvSpPr>
            <p:nvPr/>
          </p:nvSpPr>
          <p:spPr bwMode="auto">
            <a:xfrm>
              <a:off x="1217612" y="481647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dirty="0">
                  <a:solidFill>
                    <a:srgbClr val="003399"/>
                  </a:solidFill>
                  <a:latin typeface="MetaPlusBook-Roman" pitchFamily="34" charset="0"/>
                </a:rPr>
                <a:t>Claims</a:t>
              </a:r>
              <a:br>
                <a:rPr lang="en-US" sz="2000" dirty="0">
                  <a:solidFill>
                    <a:srgbClr val="003399"/>
                  </a:solidFill>
                  <a:latin typeface="MetaPlusBook-Roman" pitchFamily="34" charset="0"/>
                </a:rPr>
              </a:br>
              <a:r>
                <a:rPr lang="en-US" sz="2000" dirty="0">
                  <a:solidFill>
                    <a:srgbClr val="003399"/>
                  </a:solidFill>
                  <a:latin typeface="MetaPlusBook-Roman" pitchFamily="34" charset="0"/>
                </a:rPr>
                <a:t>Admin.</a:t>
              </a:r>
            </a:p>
          </p:txBody>
        </p:sp>
        <p:pic>
          <p:nvPicPr>
            <p:cNvPr id="11308" name="Picture 2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262" y="470693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1281" name="Straight Connector 65"/>
          <p:cNvCxnSpPr>
            <a:cxnSpLocks noChangeShapeType="1"/>
          </p:cNvCxnSpPr>
          <p:nvPr/>
        </p:nvCxnSpPr>
        <p:spPr bwMode="auto">
          <a:xfrm>
            <a:off x="2011363" y="2744788"/>
            <a:ext cx="1793875" cy="158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grpSp>
        <p:nvGrpSpPr>
          <p:cNvPr id="11282" name="Group 75"/>
          <p:cNvGrpSpPr>
            <a:grpSpLocks/>
          </p:cNvGrpSpPr>
          <p:nvPr/>
        </p:nvGrpSpPr>
        <p:grpSpPr bwMode="auto">
          <a:xfrm>
            <a:off x="2168525" y="5241925"/>
            <a:ext cx="2322513" cy="941388"/>
            <a:chOff x="1401762" y="5513388"/>
            <a:chExt cx="2322513" cy="941387"/>
          </a:xfrm>
        </p:grpSpPr>
        <p:sp>
          <p:nvSpPr>
            <p:cNvPr id="11303" name="Rectangle 65"/>
            <p:cNvSpPr>
              <a:spLocks noChangeArrowheads="1"/>
            </p:cNvSpPr>
            <p:nvPr/>
          </p:nvSpPr>
          <p:spPr bwMode="auto">
            <a:xfrm>
              <a:off x="1401762" y="5526088"/>
              <a:ext cx="2293938" cy="928687"/>
            </a:xfrm>
            <a:prstGeom prst="rect">
              <a:avLst/>
            </a:prstGeom>
            <a:solidFill>
              <a:srgbClr val="FFFFFF"/>
            </a:solidFill>
            <a:ln w="28575" algn="ctr">
              <a:solidFill>
                <a:schemeClr val="accent1"/>
              </a:solidFill>
              <a:miter lim="800000"/>
              <a:headEnd/>
              <a:tailEnd/>
            </a:ln>
          </p:spPr>
          <p:txBody>
            <a:bodyPr anchor="ctr"/>
            <a:lstStyle/>
            <a:p>
              <a:pPr>
                <a:buClr>
                  <a:srgbClr val="FFFFFF"/>
                </a:buClr>
              </a:pPr>
              <a:endParaRPr lang="en-US" sz="1400" b="0">
                <a:solidFill>
                  <a:srgbClr val="000000"/>
                </a:solidFill>
              </a:endParaRPr>
            </a:p>
          </p:txBody>
        </p:sp>
        <p:sp>
          <p:nvSpPr>
            <p:cNvPr id="11304" name="Text Box 18"/>
            <p:cNvSpPr txBox="1">
              <a:spLocks noChangeArrowheads="1"/>
            </p:cNvSpPr>
            <p:nvPr/>
          </p:nvSpPr>
          <p:spPr bwMode="auto">
            <a:xfrm>
              <a:off x="2317750" y="562292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a:solidFill>
                    <a:srgbClr val="003399"/>
                  </a:solidFill>
                  <a:latin typeface="MetaPlusBook-Roman" pitchFamily="34" charset="0"/>
                </a:rPr>
                <a:t>Address</a:t>
              </a:r>
              <a:br>
                <a:rPr lang="en-US" sz="2000">
                  <a:solidFill>
                    <a:srgbClr val="003399"/>
                  </a:solidFill>
                  <a:latin typeface="MetaPlusBook-Roman" pitchFamily="34" charset="0"/>
                </a:rPr>
              </a:br>
              <a:r>
                <a:rPr lang="en-US" sz="2000">
                  <a:solidFill>
                    <a:srgbClr val="003399"/>
                  </a:solidFill>
                  <a:latin typeface="MetaPlusBook-Roman" pitchFamily="34" charset="0"/>
                </a:rPr>
                <a:t>Book</a:t>
              </a:r>
            </a:p>
          </p:txBody>
        </p:sp>
        <p:pic>
          <p:nvPicPr>
            <p:cNvPr id="11305" name="Picture 17"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2400" y="551338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3" name="Group 78"/>
          <p:cNvGrpSpPr>
            <a:grpSpLocks/>
          </p:cNvGrpSpPr>
          <p:nvPr/>
        </p:nvGrpSpPr>
        <p:grpSpPr bwMode="auto">
          <a:xfrm>
            <a:off x="3435350" y="4462463"/>
            <a:ext cx="2293938" cy="936625"/>
            <a:chOff x="3416300" y="4619626"/>
            <a:chExt cx="2293938" cy="936625"/>
          </a:xfrm>
        </p:grpSpPr>
        <p:sp>
          <p:nvSpPr>
            <p:cNvPr id="11300" name="Rectangle 66"/>
            <p:cNvSpPr>
              <a:spLocks noChangeArrowheads="1"/>
            </p:cNvSpPr>
            <p:nvPr/>
          </p:nvSpPr>
          <p:spPr bwMode="auto">
            <a:xfrm>
              <a:off x="3416300" y="4627563"/>
              <a:ext cx="2293938" cy="928688"/>
            </a:xfrm>
            <a:prstGeom prst="rect">
              <a:avLst/>
            </a:prstGeom>
            <a:solidFill>
              <a:srgbClr val="FFFFFF"/>
            </a:solidFill>
            <a:ln w="28575" algn="ctr">
              <a:solidFill>
                <a:schemeClr val="accent1"/>
              </a:solidFill>
              <a:miter lim="800000"/>
              <a:headEnd/>
              <a:tailEnd/>
            </a:ln>
          </p:spPr>
          <p:txBody>
            <a:bodyPr anchor="ctr"/>
            <a:lstStyle/>
            <a:p>
              <a:pPr>
                <a:buClr>
                  <a:srgbClr val="FFFFFF"/>
                </a:buClr>
              </a:pPr>
              <a:endParaRPr lang="en-US" sz="1400" b="0">
                <a:solidFill>
                  <a:srgbClr val="000000"/>
                </a:solidFill>
              </a:endParaRPr>
            </a:p>
          </p:txBody>
        </p:sp>
        <p:sp>
          <p:nvSpPr>
            <p:cNvPr id="11301" name="Text Box 21"/>
            <p:cNvSpPr txBox="1">
              <a:spLocks noChangeArrowheads="1"/>
            </p:cNvSpPr>
            <p:nvPr/>
          </p:nvSpPr>
          <p:spPr bwMode="auto">
            <a:xfrm>
              <a:off x="4332288" y="4729163"/>
              <a:ext cx="12938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a:solidFill>
                    <a:srgbClr val="003399"/>
                  </a:solidFill>
                  <a:latin typeface="MetaPlusBook-Roman" pitchFamily="34" charset="0"/>
                </a:rPr>
                <a:t>Authen-</a:t>
              </a:r>
              <a:br>
                <a:rPr lang="en-US" sz="2000">
                  <a:solidFill>
                    <a:srgbClr val="003399"/>
                  </a:solidFill>
                  <a:latin typeface="MetaPlusBook-Roman" pitchFamily="34" charset="0"/>
                </a:rPr>
              </a:br>
              <a:r>
                <a:rPr lang="en-US" sz="2000">
                  <a:solidFill>
                    <a:srgbClr val="003399"/>
                  </a:solidFill>
                  <a:latin typeface="MetaPlusBook-Roman" pitchFamily="34" charset="0"/>
                </a:rPr>
                <a:t>tication</a:t>
              </a:r>
            </a:p>
          </p:txBody>
        </p:sp>
        <p:pic>
          <p:nvPicPr>
            <p:cNvPr id="11302" name="Picture 20"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6938" y="461962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4" name="Group 76"/>
          <p:cNvGrpSpPr>
            <a:grpSpLocks/>
          </p:cNvGrpSpPr>
          <p:nvPr/>
        </p:nvGrpSpPr>
        <p:grpSpPr bwMode="auto">
          <a:xfrm>
            <a:off x="4673600" y="5251450"/>
            <a:ext cx="2322513" cy="931863"/>
            <a:chOff x="5316537" y="5486400"/>
            <a:chExt cx="2322513" cy="931863"/>
          </a:xfrm>
        </p:grpSpPr>
        <p:sp>
          <p:nvSpPr>
            <p:cNvPr id="11297" name="Rectangle 63"/>
            <p:cNvSpPr>
              <a:spLocks noChangeArrowheads="1"/>
            </p:cNvSpPr>
            <p:nvPr/>
          </p:nvSpPr>
          <p:spPr bwMode="auto">
            <a:xfrm>
              <a:off x="5316537" y="5486400"/>
              <a:ext cx="2293938" cy="928688"/>
            </a:xfrm>
            <a:prstGeom prst="rect">
              <a:avLst/>
            </a:prstGeom>
            <a:solidFill>
              <a:srgbClr val="FFFFFF"/>
            </a:solidFill>
            <a:ln w="28575" algn="ctr">
              <a:solidFill>
                <a:schemeClr val="accent1"/>
              </a:solidFill>
              <a:miter lim="800000"/>
              <a:headEnd/>
              <a:tailEnd/>
            </a:ln>
          </p:spPr>
          <p:txBody>
            <a:bodyPr anchor="ctr"/>
            <a:lstStyle/>
            <a:p>
              <a:pPr>
                <a:buClr>
                  <a:srgbClr val="FFFFFF"/>
                </a:buClr>
              </a:pPr>
              <a:endParaRPr lang="en-US" sz="1400" b="0">
                <a:solidFill>
                  <a:srgbClr val="000000"/>
                </a:solidFill>
              </a:endParaRPr>
            </a:p>
          </p:txBody>
        </p:sp>
        <p:sp>
          <p:nvSpPr>
            <p:cNvPr id="11298" name="Text Box 24"/>
            <p:cNvSpPr txBox="1">
              <a:spLocks noChangeArrowheads="1"/>
            </p:cNvSpPr>
            <p:nvPr/>
          </p:nvSpPr>
          <p:spPr bwMode="auto">
            <a:xfrm>
              <a:off x="6232525" y="5607050"/>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dirty="0">
                  <a:solidFill>
                    <a:srgbClr val="003399"/>
                  </a:solidFill>
                  <a:latin typeface="MetaPlusBook-Roman" pitchFamily="34" charset="0"/>
                </a:rPr>
                <a:t>Billing</a:t>
              </a:r>
              <a:br>
                <a:rPr lang="en-US" sz="2000" dirty="0">
                  <a:solidFill>
                    <a:srgbClr val="003399"/>
                  </a:solidFill>
                  <a:latin typeface="MetaPlusBook-Roman" pitchFamily="34" charset="0"/>
                </a:rPr>
              </a:br>
              <a:r>
                <a:rPr lang="en-US" sz="2000" dirty="0">
                  <a:solidFill>
                    <a:srgbClr val="003399"/>
                  </a:solidFill>
                  <a:latin typeface="MetaPlusBook-Roman" pitchFamily="34" charset="0"/>
                </a:rPr>
                <a:t>Admin</a:t>
              </a:r>
            </a:p>
          </p:txBody>
        </p:sp>
        <p:pic>
          <p:nvPicPr>
            <p:cNvPr id="11299" name="Picture 23"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7175" y="5497513"/>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5" name="Group 77"/>
          <p:cNvGrpSpPr>
            <a:grpSpLocks/>
          </p:cNvGrpSpPr>
          <p:nvPr/>
        </p:nvGrpSpPr>
        <p:grpSpPr bwMode="auto">
          <a:xfrm>
            <a:off x="5940425" y="4462463"/>
            <a:ext cx="2403475" cy="928687"/>
            <a:chOff x="6540502" y="4613273"/>
            <a:chExt cx="2403475" cy="928688"/>
          </a:xfrm>
        </p:grpSpPr>
        <p:sp>
          <p:nvSpPr>
            <p:cNvPr id="11294" name="Rectangle 94"/>
            <p:cNvSpPr>
              <a:spLocks noChangeArrowheads="1"/>
            </p:cNvSpPr>
            <p:nvPr/>
          </p:nvSpPr>
          <p:spPr bwMode="auto">
            <a:xfrm>
              <a:off x="6540502" y="4613273"/>
              <a:ext cx="2293938" cy="928688"/>
            </a:xfrm>
            <a:prstGeom prst="rect">
              <a:avLst/>
            </a:prstGeom>
            <a:solidFill>
              <a:srgbClr val="FFFFFF"/>
            </a:solidFill>
            <a:ln w="28575" algn="ctr">
              <a:solidFill>
                <a:schemeClr val="accent1"/>
              </a:solidFill>
              <a:miter lim="800000"/>
              <a:headEnd/>
              <a:tailEnd/>
            </a:ln>
          </p:spPr>
          <p:txBody>
            <a:bodyPr anchor="ctr"/>
            <a:lstStyle/>
            <a:p>
              <a:pPr>
                <a:buClr>
                  <a:srgbClr val="FFFFFF"/>
                </a:buClr>
              </a:pPr>
              <a:endParaRPr lang="en-US" sz="1400" b="0">
                <a:solidFill>
                  <a:srgbClr val="000000"/>
                </a:solidFill>
              </a:endParaRPr>
            </a:p>
          </p:txBody>
        </p:sp>
        <p:pic>
          <p:nvPicPr>
            <p:cNvPr id="11295" name="Picture 14"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1615" y="461803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6" name="Text Box 15"/>
            <p:cNvSpPr txBox="1">
              <a:spLocks noChangeArrowheads="1"/>
            </p:cNvSpPr>
            <p:nvPr/>
          </p:nvSpPr>
          <p:spPr bwMode="auto">
            <a:xfrm>
              <a:off x="7418389" y="4743449"/>
              <a:ext cx="152558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dirty="0">
                  <a:solidFill>
                    <a:srgbClr val="003399"/>
                  </a:solidFill>
                  <a:latin typeface="MetaPlusBook-Roman" pitchFamily="34" charset="0"/>
                </a:rPr>
                <a:t>Reporting</a:t>
              </a:r>
            </a:p>
          </p:txBody>
        </p:sp>
      </p:grpSp>
      <p:cxnSp>
        <p:nvCxnSpPr>
          <p:cNvPr id="11286" name="Straight Connector 82"/>
          <p:cNvCxnSpPr>
            <a:cxnSpLocks noChangeShapeType="1"/>
          </p:cNvCxnSpPr>
          <p:nvPr/>
        </p:nvCxnSpPr>
        <p:spPr bwMode="auto">
          <a:xfrm rot="16200000" flipV="1">
            <a:off x="2865438" y="4249738"/>
            <a:ext cx="430212" cy="4762"/>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87" name="Straight Connector 84"/>
          <p:cNvCxnSpPr>
            <a:cxnSpLocks noChangeShapeType="1"/>
            <a:stCxn id="11303" idx="0"/>
          </p:cNvCxnSpPr>
          <p:nvPr/>
        </p:nvCxnSpPr>
        <p:spPr bwMode="auto">
          <a:xfrm rot="5400000" flipH="1" flipV="1">
            <a:off x="2705100" y="4641850"/>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88" name="Straight Connector 85"/>
          <p:cNvCxnSpPr>
            <a:cxnSpLocks noChangeShapeType="1"/>
          </p:cNvCxnSpPr>
          <p:nvPr/>
        </p:nvCxnSpPr>
        <p:spPr bwMode="auto">
          <a:xfrm rot="16200000" flipV="1">
            <a:off x="5943601" y="4249737"/>
            <a:ext cx="430212"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89" name="Straight Connector 86"/>
          <p:cNvCxnSpPr>
            <a:cxnSpLocks noChangeShapeType="1"/>
          </p:cNvCxnSpPr>
          <p:nvPr/>
        </p:nvCxnSpPr>
        <p:spPr bwMode="auto">
          <a:xfrm rot="5400000" flipH="1" flipV="1">
            <a:off x="5232400" y="4649788"/>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90" name="Straight Connector 87"/>
          <p:cNvCxnSpPr>
            <a:cxnSpLocks noChangeShapeType="1"/>
          </p:cNvCxnSpPr>
          <p:nvPr/>
        </p:nvCxnSpPr>
        <p:spPr bwMode="auto">
          <a:xfrm rot="16200000" flipV="1">
            <a:off x="4323557" y="4245768"/>
            <a:ext cx="431800"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sp>
        <p:nvSpPr>
          <p:cNvPr id="11291" name="Title 1"/>
          <p:cNvSpPr txBox="1">
            <a:spLocks/>
          </p:cNvSpPr>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lnSpc>
                <a:spcPct val="90000"/>
              </a:lnSpc>
              <a:spcBef>
                <a:spcPct val="0"/>
              </a:spcBef>
              <a:spcAft>
                <a:spcPct val="0"/>
              </a:spcAft>
              <a:buClrTx/>
            </a:pPr>
            <a:r>
              <a:rPr lang="en-US" sz="3400">
                <a:solidFill>
                  <a:srgbClr val="04628C"/>
                </a:solidFill>
                <a:latin typeface="Calibri" pitchFamily="34" charset="0"/>
                <a:ea typeface="Calibri" pitchFamily="34" charset="0"/>
                <a:cs typeface="Calibri" pitchFamily="34" charset="0"/>
              </a:rPr>
              <a:t>Guidewire applications architecture</a:t>
            </a:r>
          </a:p>
        </p:txBody>
      </p:sp>
      <p:sp>
        <p:nvSpPr>
          <p:cNvPr id="11292" name="Text Box 35"/>
          <p:cNvSpPr txBox="1">
            <a:spLocks noChangeArrowheads="1"/>
          </p:cNvSpPr>
          <p:nvPr/>
        </p:nvSpPr>
        <p:spPr bwMode="invGray">
          <a:xfrm>
            <a:off x="6834188" y="1292225"/>
            <a:ext cx="14128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000">
                <a:solidFill>
                  <a:srgbClr val="000000"/>
                </a:solidFill>
                <a:latin typeface="MetaPlusBook-Roman" pitchFamily="34" charset="0"/>
              </a:rPr>
              <a:t>Users</a:t>
            </a:r>
          </a:p>
        </p:txBody>
      </p:sp>
      <p:pic>
        <p:nvPicPr>
          <p:cNvPr id="54" name="Picture 21" descr="policy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05238" y="2015566"/>
            <a:ext cx="1554163" cy="1555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8975" y="3182172"/>
            <a:ext cx="1928149" cy="701145"/>
          </a:xfrm>
          <a:prstGeom prst="rect">
            <a:avLst/>
          </a:prstGeom>
          <a:noFill/>
          <a:ln w="28575" cap="flat" cmpd="sng" algn="ctr">
            <a:solidFill>
              <a:schemeClr val="accent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pic>
      <p:pic>
        <p:nvPicPr>
          <p:cNvPr id="58"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5651" y="2471211"/>
            <a:ext cx="1928149" cy="701145"/>
          </a:xfrm>
          <a:prstGeom prst="rect">
            <a:avLst/>
          </a:prstGeom>
          <a:noFill/>
          <a:ln w="28575" cap="flat" cmpd="sng" algn="ctr">
            <a:solidFill>
              <a:schemeClr val="accent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pic>
      <p:pic>
        <p:nvPicPr>
          <p:cNvPr id="59"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2775" y="1749690"/>
            <a:ext cx="1928149" cy="701145"/>
          </a:xfrm>
          <a:prstGeom prst="rect">
            <a:avLst/>
          </a:prstGeom>
          <a:noFill/>
          <a:ln w="28575" cap="flat" cmpd="sng" algn="ctr">
            <a:solidFill>
              <a:schemeClr val="accent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83373891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Guidewire PC10 OOTB LOBs</a:t>
            </a:r>
          </a:p>
        </p:txBody>
      </p:sp>
      <p:pic>
        <p:nvPicPr>
          <p:cNvPr id="18" name="Picture 17">
            <a:extLst>
              <a:ext uri="{FF2B5EF4-FFF2-40B4-BE49-F238E27FC236}">
                <a16:creationId xmlns:a16="http://schemas.microsoft.com/office/drawing/2014/main" id="{3B0E2080-5733-4F9D-AD5F-3DB82AE65DFA}"/>
              </a:ext>
            </a:extLst>
          </p:cNvPr>
          <p:cNvPicPr>
            <a:picLocks noChangeAspect="1"/>
          </p:cNvPicPr>
          <p:nvPr/>
        </p:nvPicPr>
        <p:blipFill>
          <a:blip r:embed="rId3"/>
          <a:stretch>
            <a:fillRect/>
          </a:stretch>
        </p:blipFill>
        <p:spPr>
          <a:xfrm>
            <a:off x="1220787" y="1014412"/>
            <a:ext cx="6867525" cy="4829175"/>
          </a:xfrm>
          <a:prstGeom prst="rect">
            <a:avLst/>
          </a:prstGeom>
        </p:spPr>
      </p:pic>
    </p:spTree>
    <p:extLst>
      <p:ext uri="{BB962C8B-B14F-4D97-AF65-F5344CB8AC3E}">
        <p14:creationId xmlns:p14="http://schemas.microsoft.com/office/powerpoint/2010/main" val="250485515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wrap="square" anchor="t">
            <a:normAutofit/>
          </a:bodyPr>
          <a:lstStyle/>
          <a:p>
            <a:r>
              <a:rPr lang="en-US" dirty="0"/>
              <a:t>Guidewire Versions</a:t>
            </a:r>
          </a:p>
        </p:txBody>
      </p:sp>
      <p:pic>
        <p:nvPicPr>
          <p:cNvPr id="4" name="Picture 3" descr="Diagram&#10;&#10;Description automatically generated with medium confidence">
            <a:extLst>
              <a:ext uri="{FF2B5EF4-FFF2-40B4-BE49-F238E27FC236}">
                <a16:creationId xmlns:a16="http://schemas.microsoft.com/office/drawing/2014/main" id="{9827F6E5-5714-4CA5-8F02-093880713A11}"/>
              </a:ext>
            </a:extLst>
          </p:cNvPr>
          <p:cNvPicPr>
            <a:picLocks noChangeAspect="1"/>
          </p:cNvPicPr>
          <p:nvPr/>
        </p:nvPicPr>
        <p:blipFill>
          <a:blip r:embed="rId3"/>
          <a:stretch>
            <a:fillRect/>
          </a:stretch>
        </p:blipFill>
        <p:spPr>
          <a:xfrm>
            <a:off x="1663857" y="914400"/>
            <a:ext cx="6029011" cy="5486400"/>
          </a:xfrm>
          <a:prstGeom prst="rect">
            <a:avLst/>
          </a:prstGeom>
          <a:noFill/>
        </p:spPr>
      </p:pic>
    </p:spTree>
    <p:extLst>
      <p:ext uri="{BB962C8B-B14F-4D97-AF65-F5344CB8AC3E}">
        <p14:creationId xmlns:p14="http://schemas.microsoft.com/office/powerpoint/2010/main" val="260120223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825500" y="120650"/>
            <a:ext cx="8318500" cy="742950"/>
          </a:xfrm>
        </p:spPr>
        <p:txBody>
          <a:bodyPr/>
          <a:lstStyle/>
          <a:p>
            <a:pPr eaLnBrk="1" hangingPunct="1"/>
            <a:r>
              <a:rPr lang="en-US"/>
              <a:t>Lesson outline</a:t>
            </a:r>
          </a:p>
        </p:txBody>
      </p:sp>
      <p:sp>
        <p:nvSpPr>
          <p:cNvPr id="5123" name="Rectangle 3"/>
          <p:cNvSpPr>
            <a:spLocks noGrp="1" noChangeArrowheads="1"/>
          </p:cNvSpPr>
          <p:nvPr>
            <p:ph type="body" idx="4294967295"/>
          </p:nvPr>
        </p:nvSpPr>
        <p:spPr bwMode="gray">
          <a:xfrm>
            <a:off x="482600" y="681038"/>
            <a:ext cx="8318500" cy="5708650"/>
          </a:xfrm>
        </p:spPr>
        <p:txBody>
          <a:bodyPr/>
          <a:lstStyle/>
          <a:p>
            <a:pPr>
              <a:lnSpc>
                <a:spcPct val="150000"/>
              </a:lnSpc>
            </a:pPr>
            <a:r>
              <a:rPr lang="en-US" sz="2800" dirty="0">
                <a:solidFill>
                  <a:schemeClr val="hlink"/>
                </a:solidFill>
              </a:rPr>
              <a:t>Guidewire Organization</a:t>
            </a:r>
          </a:p>
          <a:p>
            <a:pPr>
              <a:lnSpc>
                <a:spcPct val="150000"/>
              </a:lnSpc>
            </a:pPr>
            <a:r>
              <a:rPr lang="en-US" sz="2800" dirty="0">
                <a:solidFill>
                  <a:schemeClr val="hlink"/>
                </a:solidFill>
              </a:rPr>
              <a:t>Guidewire Products</a:t>
            </a:r>
          </a:p>
          <a:p>
            <a:pPr>
              <a:lnSpc>
                <a:spcPct val="150000"/>
              </a:lnSpc>
            </a:pPr>
            <a:r>
              <a:rPr lang="en-US" sz="2800" dirty="0">
                <a:solidFill>
                  <a:schemeClr val="hlink"/>
                </a:solidFill>
              </a:rPr>
              <a:t>Guidewire Core suite landscape</a:t>
            </a:r>
          </a:p>
          <a:p>
            <a:pPr>
              <a:lnSpc>
                <a:spcPct val="150000"/>
              </a:lnSpc>
            </a:pPr>
            <a:r>
              <a:rPr lang="en-US" sz="2800" dirty="0"/>
              <a:t>Typical integrations to Guidewire</a:t>
            </a:r>
          </a:p>
          <a:p>
            <a:endParaRPr lang="en-US" sz="2800" dirty="0"/>
          </a:p>
        </p:txBody>
      </p:sp>
    </p:spTree>
    <p:extLst>
      <p:ext uri="{BB962C8B-B14F-4D97-AF65-F5344CB8AC3E}">
        <p14:creationId xmlns:p14="http://schemas.microsoft.com/office/powerpoint/2010/main" val="264273100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InsuranceSuite</a:t>
            </a:r>
            <a:r>
              <a:rPr lang="en-US" dirty="0"/>
              <a:t> Integration</a:t>
            </a:r>
          </a:p>
        </p:txBody>
      </p:sp>
      <p:sp>
        <p:nvSpPr>
          <p:cNvPr id="12" name="Content Placeholder 11"/>
          <p:cNvSpPr>
            <a:spLocks noGrp="1"/>
          </p:cNvSpPr>
          <p:nvPr>
            <p:ph idx="1"/>
          </p:nvPr>
        </p:nvSpPr>
        <p:spPr>
          <a:xfrm>
            <a:off x="519113" y="914400"/>
            <a:ext cx="8318500" cy="1250731"/>
          </a:xfrm>
        </p:spPr>
        <p:txBody>
          <a:bodyPr/>
          <a:lstStyle/>
          <a:p>
            <a:r>
              <a:rPr lang="en-US" dirty="0" err="1"/>
              <a:t>InsuranceSuite</a:t>
            </a:r>
            <a:r>
              <a:rPr lang="en-US" dirty="0"/>
              <a:t> implementations use a wide variety of industry standard mechanisms to share information with external systems including:</a:t>
            </a:r>
          </a:p>
        </p:txBody>
      </p:sp>
      <p:sp>
        <p:nvSpPr>
          <p:cNvPr id="5" name="Content Placeholder 11">
            <a:extLst>
              <a:ext uri="{FF2B5EF4-FFF2-40B4-BE49-F238E27FC236}">
                <a16:creationId xmlns:a16="http://schemas.microsoft.com/office/drawing/2014/main" id="{1C3FFAFE-CD0F-4C38-87BD-F20C2740FE6B}"/>
              </a:ext>
            </a:extLst>
          </p:cNvPr>
          <p:cNvSpPr txBox="1">
            <a:spLocks/>
          </p:cNvSpPr>
          <p:nvPr/>
        </p:nvSpPr>
        <p:spPr bwMode="auto">
          <a:xfrm>
            <a:off x="162035" y="2215931"/>
            <a:ext cx="2892863" cy="2567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Calibri"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pPr lvl="1"/>
            <a:r>
              <a:rPr lang="en-US" b="0" kern="0" dirty="0"/>
              <a:t>Batch Processes</a:t>
            </a:r>
          </a:p>
          <a:p>
            <a:pPr lvl="1"/>
            <a:r>
              <a:rPr lang="en-US" b="0" kern="0" dirty="0"/>
              <a:t>Database tables</a:t>
            </a:r>
          </a:p>
          <a:p>
            <a:pPr lvl="1"/>
            <a:r>
              <a:rPr lang="en-US" b="0" kern="0" dirty="0"/>
              <a:t>Web Services</a:t>
            </a:r>
          </a:p>
          <a:p>
            <a:pPr lvl="1"/>
            <a:r>
              <a:rPr lang="en-US" b="0" kern="0" dirty="0"/>
              <a:t>Messaging</a:t>
            </a:r>
          </a:p>
          <a:p>
            <a:pPr lvl="1"/>
            <a:r>
              <a:rPr lang="en-US" b="0" kern="0" dirty="0"/>
              <a:t>Plugins</a:t>
            </a:r>
          </a:p>
        </p:txBody>
      </p:sp>
      <p:pic>
        <p:nvPicPr>
          <p:cNvPr id="4" name="Picture 3">
            <a:extLst>
              <a:ext uri="{FF2B5EF4-FFF2-40B4-BE49-F238E27FC236}">
                <a16:creationId xmlns:a16="http://schemas.microsoft.com/office/drawing/2014/main" id="{1727B773-83DD-4563-86E4-491388CE9978}"/>
              </a:ext>
            </a:extLst>
          </p:cNvPr>
          <p:cNvPicPr>
            <a:picLocks noChangeAspect="1"/>
          </p:cNvPicPr>
          <p:nvPr/>
        </p:nvPicPr>
        <p:blipFill>
          <a:blip r:embed="rId3"/>
          <a:stretch>
            <a:fillRect/>
          </a:stretch>
        </p:blipFill>
        <p:spPr>
          <a:xfrm>
            <a:off x="3144305" y="2215931"/>
            <a:ext cx="5999695" cy="2988144"/>
          </a:xfrm>
          <a:prstGeom prst="rect">
            <a:avLst/>
          </a:prstGeom>
        </p:spPr>
      </p:pic>
    </p:spTree>
    <p:extLst>
      <p:ext uri="{BB962C8B-B14F-4D97-AF65-F5344CB8AC3E}">
        <p14:creationId xmlns:p14="http://schemas.microsoft.com/office/powerpoint/2010/main" val="422245724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Integration mechanisms</a:t>
            </a:r>
          </a:p>
        </p:txBody>
      </p:sp>
      <p:sp>
        <p:nvSpPr>
          <p:cNvPr id="5" name="Content Placeholder 11">
            <a:extLst>
              <a:ext uri="{FF2B5EF4-FFF2-40B4-BE49-F238E27FC236}">
                <a16:creationId xmlns:a16="http://schemas.microsoft.com/office/drawing/2014/main" id="{1C3FFAFE-CD0F-4C38-87BD-F20C2740FE6B}"/>
              </a:ext>
            </a:extLst>
          </p:cNvPr>
          <p:cNvSpPr txBox="1">
            <a:spLocks/>
          </p:cNvSpPr>
          <p:nvPr/>
        </p:nvSpPr>
        <p:spPr bwMode="auto">
          <a:xfrm>
            <a:off x="233417" y="715525"/>
            <a:ext cx="5711716" cy="570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Calibri"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r>
              <a:rPr lang="en-US" kern="0" dirty="0"/>
              <a:t>Batch Processes:</a:t>
            </a:r>
            <a:r>
              <a:rPr lang="en-US" b="0" kern="0" dirty="0"/>
              <a:t> A background process that performs a periodic task independent of a user</a:t>
            </a:r>
          </a:p>
          <a:p>
            <a:r>
              <a:rPr lang="en-US" kern="0" dirty="0"/>
              <a:t>Database tables:</a:t>
            </a:r>
            <a:r>
              <a:rPr lang="en-US" b="0" kern="0" dirty="0"/>
              <a:t> An integration table is a database table that both systems can access</a:t>
            </a:r>
          </a:p>
          <a:p>
            <a:r>
              <a:rPr lang="en-US" kern="0" dirty="0"/>
              <a:t>Web Services:</a:t>
            </a:r>
            <a:r>
              <a:rPr lang="en-US" b="0" kern="0" dirty="0"/>
              <a:t> Information exchange systems that use the internet for direct application-to-application interaction. </a:t>
            </a:r>
          </a:p>
          <a:p>
            <a:r>
              <a:rPr lang="en-US" kern="0" dirty="0"/>
              <a:t>Messaging: </a:t>
            </a:r>
            <a:r>
              <a:rPr lang="en-US" b="0" kern="0" dirty="0"/>
              <a:t>Asynchronous exchange of data between systems as messages</a:t>
            </a:r>
          </a:p>
          <a:p>
            <a:r>
              <a:rPr lang="en-US" kern="0" dirty="0"/>
              <a:t>Plugins:</a:t>
            </a:r>
            <a:r>
              <a:rPr lang="en-US" b="0" kern="0" dirty="0"/>
              <a:t> Interface provided by GW.</a:t>
            </a:r>
          </a:p>
          <a:p>
            <a:pPr lvl="1"/>
            <a:r>
              <a:rPr lang="en-US" b="0" kern="0" dirty="0"/>
              <a:t>Predefined, Messaging, </a:t>
            </a:r>
            <a:r>
              <a:rPr lang="en-US" b="0" kern="0" dirty="0" err="1"/>
              <a:t>Startable</a:t>
            </a:r>
            <a:endParaRPr lang="en-US" b="0" kern="0" dirty="0"/>
          </a:p>
        </p:txBody>
      </p:sp>
      <p:pic>
        <p:nvPicPr>
          <p:cNvPr id="7" name="Picture 6">
            <a:extLst>
              <a:ext uri="{FF2B5EF4-FFF2-40B4-BE49-F238E27FC236}">
                <a16:creationId xmlns:a16="http://schemas.microsoft.com/office/drawing/2014/main" id="{79EC437D-2D28-4413-9014-B748D59245E4}"/>
              </a:ext>
            </a:extLst>
          </p:cNvPr>
          <p:cNvPicPr>
            <a:picLocks noChangeAspect="1"/>
          </p:cNvPicPr>
          <p:nvPr/>
        </p:nvPicPr>
        <p:blipFill>
          <a:blip r:embed="rId3"/>
          <a:stretch>
            <a:fillRect/>
          </a:stretch>
        </p:blipFill>
        <p:spPr>
          <a:xfrm>
            <a:off x="5934260" y="1949098"/>
            <a:ext cx="3140211" cy="829883"/>
          </a:xfrm>
          <a:prstGeom prst="rect">
            <a:avLst/>
          </a:prstGeom>
        </p:spPr>
      </p:pic>
      <p:pic>
        <p:nvPicPr>
          <p:cNvPr id="9" name="Picture 8">
            <a:extLst>
              <a:ext uri="{FF2B5EF4-FFF2-40B4-BE49-F238E27FC236}">
                <a16:creationId xmlns:a16="http://schemas.microsoft.com/office/drawing/2014/main" id="{FBF00086-CE9A-4531-86C4-C316EDC1656B}"/>
              </a:ext>
            </a:extLst>
          </p:cNvPr>
          <p:cNvPicPr>
            <a:picLocks noChangeAspect="1"/>
          </p:cNvPicPr>
          <p:nvPr/>
        </p:nvPicPr>
        <p:blipFill>
          <a:blip r:embed="rId4"/>
          <a:stretch>
            <a:fillRect/>
          </a:stretch>
        </p:blipFill>
        <p:spPr>
          <a:xfrm>
            <a:off x="5934260" y="3301105"/>
            <a:ext cx="2976323" cy="796239"/>
          </a:xfrm>
          <a:prstGeom prst="rect">
            <a:avLst/>
          </a:prstGeom>
        </p:spPr>
      </p:pic>
      <p:pic>
        <p:nvPicPr>
          <p:cNvPr id="11" name="Picture 10">
            <a:extLst>
              <a:ext uri="{FF2B5EF4-FFF2-40B4-BE49-F238E27FC236}">
                <a16:creationId xmlns:a16="http://schemas.microsoft.com/office/drawing/2014/main" id="{3C4F9BC2-7E84-49DA-B62A-C69A9D0D006B}"/>
              </a:ext>
            </a:extLst>
          </p:cNvPr>
          <p:cNvPicPr>
            <a:picLocks noChangeAspect="1"/>
          </p:cNvPicPr>
          <p:nvPr/>
        </p:nvPicPr>
        <p:blipFill>
          <a:blip r:embed="rId5"/>
          <a:stretch>
            <a:fillRect/>
          </a:stretch>
        </p:blipFill>
        <p:spPr>
          <a:xfrm>
            <a:off x="5810259" y="715525"/>
            <a:ext cx="3264212" cy="829884"/>
          </a:xfrm>
          <a:prstGeom prst="rect">
            <a:avLst/>
          </a:prstGeom>
        </p:spPr>
      </p:pic>
      <p:pic>
        <p:nvPicPr>
          <p:cNvPr id="16" name="Picture 15">
            <a:extLst>
              <a:ext uri="{FF2B5EF4-FFF2-40B4-BE49-F238E27FC236}">
                <a16:creationId xmlns:a16="http://schemas.microsoft.com/office/drawing/2014/main" id="{B7BFA699-4961-4809-AA01-F2146B237BA3}"/>
              </a:ext>
            </a:extLst>
          </p:cNvPr>
          <p:cNvPicPr>
            <a:picLocks noChangeAspect="1"/>
          </p:cNvPicPr>
          <p:nvPr/>
        </p:nvPicPr>
        <p:blipFill>
          <a:blip r:embed="rId6"/>
          <a:stretch>
            <a:fillRect/>
          </a:stretch>
        </p:blipFill>
        <p:spPr>
          <a:xfrm>
            <a:off x="5972387" y="4467889"/>
            <a:ext cx="3102084" cy="791693"/>
          </a:xfrm>
          <a:prstGeom prst="rect">
            <a:avLst/>
          </a:prstGeom>
        </p:spPr>
      </p:pic>
      <p:pic>
        <p:nvPicPr>
          <p:cNvPr id="20" name="Picture 19">
            <a:extLst>
              <a:ext uri="{FF2B5EF4-FFF2-40B4-BE49-F238E27FC236}">
                <a16:creationId xmlns:a16="http://schemas.microsoft.com/office/drawing/2014/main" id="{7F70240A-07C8-4791-81E0-E121CC90EB75}"/>
              </a:ext>
            </a:extLst>
          </p:cNvPr>
          <p:cNvPicPr>
            <a:picLocks noChangeAspect="1"/>
          </p:cNvPicPr>
          <p:nvPr/>
        </p:nvPicPr>
        <p:blipFill>
          <a:blip r:embed="rId7"/>
          <a:stretch>
            <a:fillRect/>
          </a:stretch>
        </p:blipFill>
        <p:spPr>
          <a:xfrm>
            <a:off x="5992813" y="5523858"/>
            <a:ext cx="3023104" cy="791693"/>
          </a:xfrm>
          <a:prstGeom prst="rect">
            <a:avLst/>
          </a:prstGeom>
        </p:spPr>
      </p:pic>
    </p:spTree>
    <p:extLst>
      <p:ext uri="{BB962C8B-B14F-4D97-AF65-F5344CB8AC3E}">
        <p14:creationId xmlns:p14="http://schemas.microsoft.com/office/powerpoint/2010/main" val="369189742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integration mechanisms</a:t>
            </a:r>
          </a:p>
        </p:txBody>
      </p:sp>
      <p:sp>
        <p:nvSpPr>
          <p:cNvPr id="12" name="Content Placeholder 11"/>
          <p:cNvSpPr>
            <a:spLocks noGrp="1"/>
          </p:cNvSpPr>
          <p:nvPr>
            <p:ph idx="1"/>
          </p:nvPr>
        </p:nvSpPr>
        <p:spPr>
          <a:xfrm>
            <a:off x="519113" y="914400"/>
            <a:ext cx="8318500" cy="1250731"/>
          </a:xfrm>
        </p:spPr>
        <p:txBody>
          <a:bodyPr/>
          <a:lstStyle/>
          <a:p>
            <a:r>
              <a:rPr lang="en-US" dirty="0"/>
              <a:t>The table below contrasts different integration mechanisms with respect to data exchange timing and direction, but it does not describe absolute rules</a:t>
            </a:r>
          </a:p>
        </p:txBody>
      </p:sp>
      <p:pic>
        <p:nvPicPr>
          <p:cNvPr id="6" name="Picture 5">
            <a:extLst>
              <a:ext uri="{FF2B5EF4-FFF2-40B4-BE49-F238E27FC236}">
                <a16:creationId xmlns:a16="http://schemas.microsoft.com/office/drawing/2014/main" id="{4CC259BC-FBFE-48F9-8D86-A821499CFB4B}"/>
              </a:ext>
            </a:extLst>
          </p:cNvPr>
          <p:cNvPicPr>
            <a:picLocks noChangeAspect="1"/>
          </p:cNvPicPr>
          <p:nvPr/>
        </p:nvPicPr>
        <p:blipFill>
          <a:blip r:embed="rId3"/>
          <a:stretch>
            <a:fillRect/>
          </a:stretch>
        </p:blipFill>
        <p:spPr>
          <a:xfrm>
            <a:off x="767255" y="2165131"/>
            <a:ext cx="7462345" cy="4013198"/>
          </a:xfrm>
          <a:prstGeom prst="rect">
            <a:avLst/>
          </a:prstGeom>
        </p:spPr>
      </p:pic>
    </p:spTree>
    <p:extLst>
      <p:ext uri="{BB962C8B-B14F-4D97-AF65-F5344CB8AC3E}">
        <p14:creationId xmlns:p14="http://schemas.microsoft.com/office/powerpoint/2010/main" val="164132701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PolicyCenter</a:t>
            </a:r>
            <a:r>
              <a:rPr lang="en-US" dirty="0"/>
              <a:t> Integrations</a:t>
            </a:r>
          </a:p>
        </p:txBody>
      </p:sp>
      <p:sp>
        <p:nvSpPr>
          <p:cNvPr id="12" name="Content Placeholder 11"/>
          <p:cNvSpPr>
            <a:spLocks noGrp="1"/>
          </p:cNvSpPr>
          <p:nvPr>
            <p:ph idx="1"/>
          </p:nvPr>
        </p:nvSpPr>
        <p:spPr/>
        <p:txBody>
          <a:bodyPr/>
          <a:lstStyle/>
          <a:p>
            <a:r>
              <a:rPr lang="en-US" dirty="0" err="1"/>
              <a:t>PolicyCenter</a:t>
            </a:r>
            <a:r>
              <a:rPr lang="en-US" dirty="0"/>
              <a:t> interacts with several external systems. Below are some typical integration systems</a:t>
            </a:r>
          </a:p>
        </p:txBody>
      </p:sp>
      <p:pic>
        <p:nvPicPr>
          <p:cNvPr id="15" name="Picture 14">
            <a:extLst>
              <a:ext uri="{FF2B5EF4-FFF2-40B4-BE49-F238E27FC236}">
                <a16:creationId xmlns:a16="http://schemas.microsoft.com/office/drawing/2014/main" id="{E15494B0-8DCA-40A5-9294-29E616C33022}"/>
              </a:ext>
            </a:extLst>
          </p:cNvPr>
          <p:cNvPicPr>
            <a:picLocks noChangeAspect="1"/>
          </p:cNvPicPr>
          <p:nvPr/>
        </p:nvPicPr>
        <p:blipFill>
          <a:blip r:embed="rId3"/>
          <a:stretch>
            <a:fillRect/>
          </a:stretch>
        </p:blipFill>
        <p:spPr>
          <a:xfrm>
            <a:off x="683173" y="1930444"/>
            <a:ext cx="7517463" cy="3829225"/>
          </a:xfrm>
          <a:prstGeom prst="rect">
            <a:avLst/>
          </a:prstGeom>
        </p:spPr>
      </p:pic>
    </p:spTree>
    <p:extLst>
      <p:ext uri="{BB962C8B-B14F-4D97-AF65-F5344CB8AC3E}">
        <p14:creationId xmlns:p14="http://schemas.microsoft.com/office/powerpoint/2010/main" val="71718766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ClaimCenter</a:t>
            </a:r>
            <a:r>
              <a:rPr lang="en-US" dirty="0"/>
              <a:t> Integrations</a:t>
            </a:r>
          </a:p>
        </p:txBody>
      </p:sp>
      <p:sp>
        <p:nvSpPr>
          <p:cNvPr id="12" name="Content Placeholder 11"/>
          <p:cNvSpPr>
            <a:spLocks noGrp="1"/>
          </p:cNvSpPr>
          <p:nvPr>
            <p:ph idx="1"/>
          </p:nvPr>
        </p:nvSpPr>
        <p:spPr/>
        <p:txBody>
          <a:bodyPr/>
          <a:lstStyle/>
          <a:p>
            <a:r>
              <a:rPr lang="en-US" dirty="0" err="1"/>
              <a:t>ClaimCenter</a:t>
            </a:r>
            <a:r>
              <a:rPr lang="en-US" dirty="0"/>
              <a:t> interacts with several external systems. Below are some typical integration systems</a:t>
            </a:r>
          </a:p>
        </p:txBody>
      </p:sp>
      <p:pic>
        <p:nvPicPr>
          <p:cNvPr id="16" name="Picture 15">
            <a:extLst>
              <a:ext uri="{FF2B5EF4-FFF2-40B4-BE49-F238E27FC236}">
                <a16:creationId xmlns:a16="http://schemas.microsoft.com/office/drawing/2014/main" id="{AD0AC48C-6058-4B4F-B780-55052FBE4938}"/>
              </a:ext>
            </a:extLst>
          </p:cNvPr>
          <p:cNvPicPr>
            <a:picLocks noChangeAspect="1"/>
          </p:cNvPicPr>
          <p:nvPr/>
        </p:nvPicPr>
        <p:blipFill>
          <a:blip r:embed="rId3"/>
          <a:stretch>
            <a:fillRect/>
          </a:stretch>
        </p:blipFill>
        <p:spPr>
          <a:xfrm>
            <a:off x="1018702" y="1701854"/>
            <a:ext cx="1997767" cy="4384538"/>
          </a:xfrm>
          <a:prstGeom prst="rect">
            <a:avLst/>
          </a:prstGeom>
        </p:spPr>
      </p:pic>
      <p:pic>
        <p:nvPicPr>
          <p:cNvPr id="4" name="Picture 3">
            <a:extLst>
              <a:ext uri="{FF2B5EF4-FFF2-40B4-BE49-F238E27FC236}">
                <a16:creationId xmlns:a16="http://schemas.microsoft.com/office/drawing/2014/main" id="{025DB758-53E6-4ECC-B948-5E1E016C280D}"/>
              </a:ext>
            </a:extLst>
          </p:cNvPr>
          <p:cNvPicPr>
            <a:picLocks noChangeAspect="1"/>
          </p:cNvPicPr>
          <p:nvPr/>
        </p:nvPicPr>
        <p:blipFill>
          <a:blip r:embed="rId4"/>
          <a:stretch>
            <a:fillRect/>
          </a:stretch>
        </p:blipFill>
        <p:spPr>
          <a:xfrm>
            <a:off x="2865169" y="2847222"/>
            <a:ext cx="5759718" cy="2093802"/>
          </a:xfrm>
          <a:prstGeom prst="rect">
            <a:avLst/>
          </a:prstGeom>
        </p:spPr>
      </p:pic>
    </p:spTree>
    <p:extLst>
      <p:ext uri="{BB962C8B-B14F-4D97-AF65-F5344CB8AC3E}">
        <p14:creationId xmlns:p14="http://schemas.microsoft.com/office/powerpoint/2010/main" val="214520805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BillingCenter</a:t>
            </a:r>
            <a:r>
              <a:rPr lang="en-US" dirty="0"/>
              <a:t> Integrations</a:t>
            </a:r>
          </a:p>
        </p:txBody>
      </p:sp>
      <p:sp>
        <p:nvSpPr>
          <p:cNvPr id="12" name="Content Placeholder 11"/>
          <p:cNvSpPr>
            <a:spLocks noGrp="1"/>
          </p:cNvSpPr>
          <p:nvPr>
            <p:ph idx="1"/>
          </p:nvPr>
        </p:nvSpPr>
        <p:spPr/>
        <p:txBody>
          <a:bodyPr/>
          <a:lstStyle/>
          <a:p>
            <a:r>
              <a:rPr lang="en-US" dirty="0" err="1"/>
              <a:t>BillingCenter</a:t>
            </a:r>
            <a:r>
              <a:rPr lang="en-US" dirty="0"/>
              <a:t> interacts with several external systems. Below are some typical integration systems</a:t>
            </a:r>
          </a:p>
        </p:txBody>
      </p:sp>
      <p:grpSp>
        <p:nvGrpSpPr>
          <p:cNvPr id="22" name="Group 21">
            <a:extLst>
              <a:ext uri="{FF2B5EF4-FFF2-40B4-BE49-F238E27FC236}">
                <a16:creationId xmlns:a16="http://schemas.microsoft.com/office/drawing/2014/main" id="{35EF01AA-4FAD-4694-81ED-3B3E92F459AD}"/>
              </a:ext>
            </a:extLst>
          </p:cNvPr>
          <p:cNvGrpSpPr/>
          <p:nvPr/>
        </p:nvGrpSpPr>
        <p:grpSpPr>
          <a:xfrm>
            <a:off x="1018702" y="1701854"/>
            <a:ext cx="6849448" cy="4384538"/>
            <a:chOff x="1018702" y="1701854"/>
            <a:chExt cx="6849448" cy="4384538"/>
          </a:xfrm>
        </p:grpSpPr>
        <p:pic>
          <p:nvPicPr>
            <p:cNvPr id="16" name="Picture 15">
              <a:extLst>
                <a:ext uri="{FF2B5EF4-FFF2-40B4-BE49-F238E27FC236}">
                  <a16:creationId xmlns:a16="http://schemas.microsoft.com/office/drawing/2014/main" id="{AD0AC48C-6058-4B4F-B780-55052FBE4938}"/>
                </a:ext>
              </a:extLst>
            </p:cNvPr>
            <p:cNvPicPr>
              <a:picLocks noChangeAspect="1"/>
            </p:cNvPicPr>
            <p:nvPr/>
          </p:nvPicPr>
          <p:blipFill>
            <a:blip r:embed="rId3"/>
            <a:stretch>
              <a:fillRect/>
            </a:stretch>
          </p:blipFill>
          <p:spPr>
            <a:xfrm>
              <a:off x="1018702" y="1701854"/>
              <a:ext cx="1997767" cy="4384538"/>
            </a:xfrm>
            <a:prstGeom prst="rect">
              <a:avLst/>
            </a:prstGeom>
          </p:spPr>
        </p:pic>
        <p:grpSp>
          <p:nvGrpSpPr>
            <p:cNvPr id="21" name="Group 20">
              <a:extLst>
                <a:ext uri="{FF2B5EF4-FFF2-40B4-BE49-F238E27FC236}">
                  <a16:creationId xmlns:a16="http://schemas.microsoft.com/office/drawing/2014/main" id="{5EA77CB1-D0AD-4DD3-A08F-428E594E15A1}"/>
                </a:ext>
              </a:extLst>
            </p:cNvPr>
            <p:cNvGrpSpPr/>
            <p:nvPr/>
          </p:nvGrpSpPr>
          <p:grpSpPr>
            <a:xfrm>
              <a:off x="3269734" y="2810376"/>
              <a:ext cx="4598416" cy="1631383"/>
              <a:chOff x="3269734" y="2810376"/>
              <a:chExt cx="4598416" cy="1631383"/>
            </a:xfrm>
          </p:grpSpPr>
          <p:pic>
            <p:nvPicPr>
              <p:cNvPr id="6" name="Picture 5">
                <a:extLst>
                  <a:ext uri="{FF2B5EF4-FFF2-40B4-BE49-F238E27FC236}">
                    <a16:creationId xmlns:a16="http://schemas.microsoft.com/office/drawing/2014/main" id="{602DB51C-9954-437F-A59C-8F45B332D3C3}"/>
                  </a:ext>
                </a:extLst>
              </p:cNvPr>
              <p:cNvPicPr>
                <a:picLocks noChangeAspect="1"/>
              </p:cNvPicPr>
              <p:nvPr/>
            </p:nvPicPr>
            <p:blipFill>
              <a:blip r:embed="rId4"/>
              <a:stretch>
                <a:fillRect/>
              </a:stretch>
            </p:blipFill>
            <p:spPr>
              <a:xfrm>
                <a:off x="3269734" y="3024185"/>
                <a:ext cx="1628775" cy="1266825"/>
              </a:xfrm>
              <a:prstGeom prst="rect">
                <a:avLst/>
              </a:prstGeom>
            </p:spPr>
          </p:pic>
          <p:pic>
            <p:nvPicPr>
              <p:cNvPr id="18" name="Picture 17">
                <a:extLst>
                  <a:ext uri="{FF2B5EF4-FFF2-40B4-BE49-F238E27FC236}">
                    <a16:creationId xmlns:a16="http://schemas.microsoft.com/office/drawing/2014/main" id="{2828A90A-B17F-4F47-826B-333620122003}"/>
                  </a:ext>
                </a:extLst>
              </p:cNvPr>
              <p:cNvPicPr>
                <a:picLocks noChangeAspect="1"/>
              </p:cNvPicPr>
              <p:nvPr/>
            </p:nvPicPr>
            <p:blipFill>
              <a:blip r:embed="rId5"/>
              <a:stretch>
                <a:fillRect/>
              </a:stretch>
            </p:blipFill>
            <p:spPr>
              <a:xfrm>
                <a:off x="6209233" y="2810376"/>
                <a:ext cx="1658917" cy="1631383"/>
              </a:xfrm>
              <a:prstGeom prst="rect">
                <a:avLst/>
              </a:prstGeom>
            </p:spPr>
          </p:pic>
          <p:pic>
            <p:nvPicPr>
              <p:cNvPr id="20" name="Picture 19">
                <a:extLst>
                  <a:ext uri="{FF2B5EF4-FFF2-40B4-BE49-F238E27FC236}">
                    <a16:creationId xmlns:a16="http://schemas.microsoft.com/office/drawing/2014/main" id="{E349B837-5AE7-4E9E-AAA8-414979199297}"/>
                  </a:ext>
                </a:extLst>
              </p:cNvPr>
              <p:cNvPicPr>
                <a:picLocks noChangeAspect="1"/>
              </p:cNvPicPr>
              <p:nvPr/>
            </p:nvPicPr>
            <p:blipFill>
              <a:blip r:embed="rId6"/>
              <a:stretch>
                <a:fillRect/>
              </a:stretch>
            </p:blipFill>
            <p:spPr>
              <a:xfrm>
                <a:off x="4783466" y="2900852"/>
                <a:ext cx="1740617" cy="1390158"/>
              </a:xfrm>
              <a:prstGeom prst="rect">
                <a:avLst/>
              </a:prstGeom>
            </p:spPr>
          </p:pic>
        </p:grpSp>
      </p:grpSp>
    </p:spTree>
    <p:extLst>
      <p:ext uri="{BB962C8B-B14F-4D97-AF65-F5344CB8AC3E}">
        <p14:creationId xmlns:p14="http://schemas.microsoft.com/office/powerpoint/2010/main" val="28398158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Common points of integration</a:t>
            </a:r>
          </a:p>
        </p:txBody>
      </p:sp>
      <p:sp>
        <p:nvSpPr>
          <p:cNvPr id="19459" name="Rectangle 3"/>
          <p:cNvSpPr>
            <a:spLocks noGrp="1" noChangeArrowheads="1"/>
          </p:cNvSpPr>
          <p:nvPr>
            <p:ph idx="1"/>
          </p:nvPr>
        </p:nvSpPr>
        <p:spPr>
          <a:xfrm>
            <a:off x="495300" y="1367823"/>
            <a:ext cx="4113212" cy="4432300"/>
          </a:xfrm>
        </p:spPr>
        <p:txBody>
          <a:bodyPr/>
          <a:lstStyle/>
          <a:p>
            <a:pPr>
              <a:buFont typeface="Arial" charset="0"/>
              <a:buChar char="•"/>
            </a:pPr>
            <a:r>
              <a:rPr lang="en-US" sz="2800" dirty="0"/>
              <a:t>Policy Processing</a:t>
            </a:r>
          </a:p>
          <a:p>
            <a:pPr lvl="1"/>
            <a:r>
              <a:rPr lang="en-US" dirty="0"/>
              <a:t>Legacy policy admin.</a:t>
            </a:r>
            <a:endParaRPr lang="en-US" sz="2600" dirty="0"/>
          </a:p>
          <a:p>
            <a:pPr lvl="1"/>
            <a:r>
              <a:rPr lang="en-US" dirty="0"/>
              <a:t>Document production</a:t>
            </a:r>
          </a:p>
          <a:p>
            <a:pPr lvl="1"/>
            <a:r>
              <a:rPr lang="en-US" dirty="0"/>
              <a:t>Document storage</a:t>
            </a:r>
          </a:p>
          <a:p>
            <a:pPr lvl="1"/>
            <a:r>
              <a:rPr lang="en-US" dirty="0"/>
              <a:t>Billing</a:t>
            </a:r>
          </a:p>
          <a:p>
            <a:pPr>
              <a:buFont typeface="Arial" charset="0"/>
              <a:buChar char="•"/>
            </a:pPr>
            <a:r>
              <a:rPr lang="en-US" sz="2800" dirty="0"/>
              <a:t>Policy Pricing</a:t>
            </a:r>
          </a:p>
          <a:p>
            <a:pPr lvl="1"/>
            <a:r>
              <a:rPr lang="en-US" dirty="0"/>
              <a:t>ISO</a:t>
            </a:r>
          </a:p>
          <a:p>
            <a:pPr lvl="1"/>
            <a:r>
              <a:rPr lang="en-US" dirty="0"/>
              <a:t>Credit rating</a:t>
            </a:r>
          </a:p>
          <a:p>
            <a:pPr lvl="1"/>
            <a:r>
              <a:rPr lang="en-US" dirty="0"/>
              <a:t>Claims</a:t>
            </a:r>
          </a:p>
          <a:p>
            <a:pPr lvl="1"/>
            <a:r>
              <a:rPr lang="en-US" dirty="0"/>
              <a:t>Rating</a:t>
            </a:r>
          </a:p>
        </p:txBody>
      </p:sp>
      <p:sp>
        <p:nvSpPr>
          <p:cNvPr id="19460" name="Rectangle 4"/>
          <p:cNvSpPr>
            <a:spLocks noChangeArrowheads="1"/>
          </p:cNvSpPr>
          <p:nvPr/>
        </p:nvSpPr>
        <p:spPr bwMode="auto">
          <a:xfrm>
            <a:off x="4654550" y="1367823"/>
            <a:ext cx="4240212"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indent="-285750" algn="l" eaLnBrk="0" hangingPunct="0">
              <a:spcBef>
                <a:spcPct val="40000"/>
              </a:spcBef>
              <a:spcAft>
                <a:spcPct val="0"/>
              </a:spcAft>
              <a:buClr>
                <a:srgbClr val="04628C"/>
              </a:buClr>
              <a:buSzPct val="90000"/>
              <a:buFont typeface="Arial" charset="0"/>
              <a:buChar char="•"/>
            </a:pPr>
            <a:r>
              <a:rPr lang="en-US" sz="2800" b="0" dirty="0">
                <a:solidFill>
                  <a:schemeClr val="bg1"/>
                </a:solidFill>
                <a:latin typeface="+mn-lt"/>
                <a:ea typeface="Calibri" pitchFamily="34" charset="0"/>
                <a:cs typeface="Calibri" pitchFamily="34" charset="0"/>
              </a:rPr>
              <a:t>User Management</a:t>
            </a:r>
          </a:p>
          <a:p>
            <a:pPr marL="628650" lvl="1" indent="-228600" algn="l" eaLnBrk="0" hangingPunct="0">
              <a:spcBef>
                <a:spcPct val="20000"/>
              </a:spcBef>
              <a:spcAft>
                <a:spcPct val="0"/>
              </a:spcAft>
              <a:buClr>
                <a:srgbClr val="04628C"/>
              </a:buClr>
              <a:buSzPct val="90000"/>
              <a:buFont typeface="Calibri" pitchFamily="34" charset="0"/>
              <a:buChar char="-"/>
            </a:pPr>
            <a:r>
              <a:rPr lang="en-US" sz="2200" b="0" dirty="0">
                <a:solidFill>
                  <a:schemeClr val="bg1"/>
                </a:solidFill>
                <a:latin typeface="+mn-lt"/>
                <a:ea typeface="Calibri" pitchFamily="34" charset="0"/>
                <a:cs typeface="Calibri" pitchFamily="34" charset="0"/>
              </a:rPr>
              <a:t>Authentication</a:t>
            </a:r>
          </a:p>
          <a:p>
            <a:pPr marL="628650" lvl="1" indent="-228600" algn="l" eaLnBrk="0" hangingPunct="0">
              <a:spcBef>
                <a:spcPct val="20000"/>
              </a:spcBef>
              <a:spcAft>
                <a:spcPct val="0"/>
              </a:spcAft>
              <a:buClr>
                <a:srgbClr val="04628C"/>
              </a:buClr>
              <a:buSzPct val="90000"/>
              <a:buFont typeface="Calibri" pitchFamily="34" charset="0"/>
              <a:buChar char="-"/>
            </a:pPr>
            <a:r>
              <a:rPr lang="en-US" sz="2200" b="0" dirty="0">
                <a:solidFill>
                  <a:schemeClr val="bg1"/>
                </a:solidFill>
                <a:latin typeface="+mn-lt"/>
                <a:ea typeface="Calibri" pitchFamily="34" charset="0"/>
                <a:cs typeface="Calibri" pitchFamily="34" charset="0"/>
              </a:rPr>
              <a:t>Agent Management System</a:t>
            </a:r>
          </a:p>
          <a:p>
            <a:pPr marL="628650" lvl="1" indent="-228600" algn="l" eaLnBrk="0" hangingPunct="0">
              <a:spcBef>
                <a:spcPct val="20000"/>
              </a:spcBef>
              <a:spcAft>
                <a:spcPct val="0"/>
              </a:spcAft>
              <a:buClr>
                <a:srgbClr val="04628C"/>
              </a:buClr>
              <a:buSzPct val="90000"/>
              <a:buFont typeface="Calibri" pitchFamily="34" charset="0"/>
              <a:buChar char="-"/>
            </a:pPr>
            <a:r>
              <a:rPr lang="en-US" sz="2200" b="0" dirty="0">
                <a:solidFill>
                  <a:schemeClr val="bg1"/>
                </a:solidFill>
                <a:latin typeface="+mn-lt"/>
                <a:ea typeface="Calibri" pitchFamily="34" charset="0"/>
                <a:cs typeface="Calibri" pitchFamily="34" charset="0"/>
              </a:rPr>
              <a:t>Contact Manager</a:t>
            </a:r>
          </a:p>
          <a:p>
            <a:pPr marL="285750" indent="-285750" algn="l" eaLnBrk="0" hangingPunct="0">
              <a:spcBef>
                <a:spcPct val="40000"/>
              </a:spcBef>
              <a:spcAft>
                <a:spcPct val="0"/>
              </a:spcAft>
              <a:buClr>
                <a:srgbClr val="04628C"/>
              </a:buClr>
              <a:buSzPct val="90000"/>
              <a:buFont typeface="Arial" charset="0"/>
              <a:buChar char="•"/>
            </a:pPr>
            <a:r>
              <a:rPr lang="en-US" sz="2800" b="0" dirty="0">
                <a:solidFill>
                  <a:schemeClr val="bg1"/>
                </a:solidFill>
                <a:latin typeface="+mn-lt"/>
                <a:ea typeface="Calibri" pitchFamily="34" charset="0"/>
                <a:cs typeface="Calibri" pitchFamily="34" charset="0"/>
              </a:rPr>
              <a:t>Miscellaneous</a:t>
            </a:r>
          </a:p>
          <a:p>
            <a:pPr marL="628650" lvl="1" indent="-228600" algn="l" eaLnBrk="0" hangingPunct="0">
              <a:spcBef>
                <a:spcPct val="20000"/>
              </a:spcBef>
              <a:spcAft>
                <a:spcPct val="0"/>
              </a:spcAft>
              <a:buClr>
                <a:srgbClr val="04628C"/>
              </a:buClr>
              <a:buSzPct val="90000"/>
              <a:buFont typeface="Calibri" pitchFamily="34" charset="0"/>
              <a:buChar char="-"/>
            </a:pPr>
            <a:r>
              <a:rPr lang="en-US" sz="2200" b="0" dirty="0">
                <a:solidFill>
                  <a:schemeClr val="bg1"/>
                </a:solidFill>
                <a:latin typeface="+mn-lt"/>
                <a:ea typeface="Calibri" pitchFamily="34" charset="0"/>
                <a:cs typeface="Calibri" pitchFamily="34" charset="0"/>
              </a:rPr>
              <a:t>Address normalization</a:t>
            </a:r>
          </a:p>
          <a:p>
            <a:pPr marL="628650" lvl="1" indent="-228600" algn="l" eaLnBrk="0" hangingPunct="0">
              <a:spcBef>
                <a:spcPct val="20000"/>
              </a:spcBef>
              <a:spcAft>
                <a:spcPct val="0"/>
              </a:spcAft>
              <a:buClr>
                <a:srgbClr val="04628C"/>
              </a:buClr>
              <a:buSzPct val="90000"/>
              <a:buFont typeface="Calibri" pitchFamily="34" charset="0"/>
              <a:buChar char="-"/>
            </a:pPr>
            <a:r>
              <a:rPr lang="en-US" sz="2200" b="0" dirty="0">
                <a:solidFill>
                  <a:schemeClr val="bg1"/>
                </a:solidFill>
                <a:latin typeface="+mn-lt"/>
                <a:ea typeface="Calibri" pitchFamily="34" charset="0"/>
                <a:cs typeface="Calibri" pitchFamily="34" charset="0"/>
              </a:rPr>
              <a:t>Reporting</a:t>
            </a:r>
          </a:p>
        </p:txBody>
      </p:sp>
    </p:spTree>
    <p:extLst>
      <p:ext uri="{BB962C8B-B14F-4D97-AF65-F5344CB8AC3E}">
        <p14:creationId xmlns:p14="http://schemas.microsoft.com/office/powerpoint/2010/main" val="128759305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a:t>Copyright </a:t>
            </a:r>
            <a:r>
              <a:rPr lang="en-US" sz="1600" b="1"/>
              <a:t>© 2001-2014 </a:t>
            </a:r>
            <a:r>
              <a:rPr lang="en-US" sz="1600" b="1" dirty="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Claim Portal, Guidewire Policyholder Portal, ClaimCenter, BillingCenter, PolicyCenter, InsuranceSuite, Gosu, 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068382406"/>
      </p:ext>
    </p:extLst>
  </p:cSld>
  <p:clrMapOvr>
    <a:masterClrMapping/>
  </p:clrMapOvr>
  <p:transition/>
</p:sld>
</file>

<file path=ppt/theme/theme1.xml><?xml version="1.0" encoding="utf-8"?>
<a:theme xmlns:a="http://schemas.openxmlformats.org/drawingml/2006/main" name="2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PresentationTemplate_Dartmouth">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3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4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50163</TotalTime>
  <Words>4453</Words>
  <Application>Microsoft Office PowerPoint</Application>
  <PresentationFormat>On-screen Show (4:3)</PresentationFormat>
  <Paragraphs>374</Paragraphs>
  <Slides>42</Slides>
  <Notes>42</Notes>
  <HiddenSlides>0</HiddenSlides>
  <MMClips>0</MMClips>
  <ScaleCrop>false</ScaleCrop>
  <HeadingPairs>
    <vt:vector size="6" baseType="variant">
      <vt:variant>
        <vt:lpstr>Fonts Used</vt:lpstr>
      </vt:variant>
      <vt:variant>
        <vt:i4>10</vt:i4>
      </vt:variant>
      <vt:variant>
        <vt:lpstr>Theme</vt:lpstr>
      </vt:variant>
      <vt:variant>
        <vt:i4>9</vt:i4>
      </vt:variant>
      <vt:variant>
        <vt:lpstr>Slide Titles</vt:lpstr>
      </vt:variant>
      <vt:variant>
        <vt:i4>42</vt:i4>
      </vt:variant>
    </vt:vector>
  </HeadingPairs>
  <TitlesOfParts>
    <vt:vector size="61" baseType="lpstr">
      <vt:lpstr>Arial</vt:lpstr>
      <vt:lpstr>Arial Black</vt:lpstr>
      <vt:lpstr>brother-1816</vt:lpstr>
      <vt:lpstr>Calibri</vt:lpstr>
      <vt:lpstr>Gartner sans</vt:lpstr>
      <vt:lpstr>MetaPlusBook-Roman</vt:lpstr>
      <vt:lpstr>Times New Roman</vt:lpstr>
      <vt:lpstr>Wingdings</vt:lpstr>
      <vt:lpstr>Wingdings 2</vt:lpstr>
      <vt:lpstr>Wingdings 3</vt:lpstr>
      <vt:lpstr>2_test-template</vt:lpstr>
      <vt:lpstr>1_test-template</vt:lpstr>
      <vt:lpstr>3_test-template</vt:lpstr>
      <vt:lpstr>4_test-template</vt:lpstr>
      <vt:lpstr>5_test-template</vt:lpstr>
      <vt:lpstr>6_test-template</vt:lpstr>
      <vt:lpstr>PresentationTemplate_Dartmouth</vt:lpstr>
      <vt:lpstr>13_test-template</vt:lpstr>
      <vt:lpstr>14_test-template</vt:lpstr>
      <vt:lpstr>Guidewire Overview</vt:lpstr>
      <vt:lpstr> Lesson objectives</vt:lpstr>
      <vt:lpstr>Lesson outline</vt:lpstr>
      <vt:lpstr>Guidewire Organization</vt:lpstr>
      <vt:lpstr>Gartner Report - Magic Quadrant</vt:lpstr>
      <vt:lpstr>Magic Quadrant Contd…</vt:lpstr>
      <vt:lpstr>Guidewire InsurancePlatform</vt:lpstr>
      <vt:lpstr>Guidewire InsurancePlatform Contd…</vt:lpstr>
      <vt:lpstr>Lesson outline</vt:lpstr>
      <vt:lpstr>Guidewire offerings</vt:lpstr>
      <vt:lpstr>Guidewire products</vt:lpstr>
      <vt:lpstr>Guidewire InsuranceSuite</vt:lpstr>
      <vt:lpstr>Guidewire InsuranceNow</vt:lpstr>
      <vt:lpstr>Guidewire InsuranceNow</vt:lpstr>
      <vt:lpstr>Guidewire Analytics</vt:lpstr>
      <vt:lpstr>Guidewire Analytics - HazardHub</vt:lpstr>
      <vt:lpstr>Guidewire Analytics - Predict</vt:lpstr>
      <vt:lpstr>Guidewire Analytics - Predict</vt:lpstr>
      <vt:lpstr>Guidewire Analytics - Canvas</vt:lpstr>
      <vt:lpstr>Guidewire Analytics - Compare</vt:lpstr>
      <vt:lpstr>Guidewire Analytics - Explore</vt:lpstr>
      <vt:lpstr>Guidewire Analytics - Cyence</vt:lpstr>
      <vt:lpstr>Guidewire Analytics - Cyence</vt:lpstr>
      <vt:lpstr>Guidewire Analytics – Data Platform</vt:lpstr>
      <vt:lpstr>Guidewire Cloud</vt:lpstr>
      <vt:lpstr>Guidewire Cloud Contd…</vt:lpstr>
      <vt:lpstr>Guidewire Ecosystem</vt:lpstr>
      <vt:lpstr>Lesson outline</vt:lpstr>
      <vt:lpstr>Guidewire product landscape</vt:lpstr>
      <vt:lpstr>Guidewire Core</vt:lpstr>
      <vt:lpstr>PowerPoint Presentation</vt:lpstr>
      <vt:lpstr>Guidewire PC10 OOTB LOBs</vt:lpstr>
      <vt:lpstr>Guidewire Versions</vt:lpstr>
      <vt:lpstr>Lesson outline</vt:lpstr>
      <vt:lpstr>InsuranceSuite Integration</vt:lpstr>
      <vt:lpstr>Integration mechanisms</vt:lpstr>
      <vt:lpstr>Contrasting integration mechanisms</vt:lpstr>
      <vt:lpstr>PolicyCenter Integrations</vt:lpstr>
      <vt:lpstr>ClaimCenter Integrations</vt:lpstr>
      <vt:lpstr>BillingCenter Integrations</vt:lpstr>
      <vt:lpstr>Common points of integration</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Guidewire GScript</dc:title>
  <dc:subject>ClaimCenter 4.0 Foundation Training</dc:subject>
  <dc:creator>Guidewire</dc:creator>
  <dc:description>DO NOT DISTRIBUTE WITHOUT PERMISSION!</dc:description>
  <cp:lastModifiedBy>Rajagopalan, Latha (Cognizant)</cp:lastModifiedBy>
  <cp:revision>2049</cp:revision>
  <dcterms:created xsi:type="dcterms:W3CDTF">2007-08-02T20:13:16Z</dcterms:created>
  <dcterms:modified xsi:type="dcterms:W3CDTF">2026-05-15T05:50:15Z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ies>
</file>